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embeddedFontLst>
    <p:embeddedFont>
      <p:font typeface="Inter" panose="020B0604020202020204" charset="0"/>
      <p:regular r:id="rId32"/>
      <p:bold r:id="rId33"/>
      <p:italic r:id="rId34"/>
      <p:boldItalic r:id="rId35"/>
    </p:embeddedFont>
    <p:embeddedFont>
      <p:font typeface="Fira Code" panose="020B0604020202020204" charset="0"/>
      <p:regular r:id="rId36"/>
      <p:bold r:id="rId37"/>
    </p:embeddedFont>
    <p:embeddedFont>
      <p:font typeface="Inter SemiBold" panose="020B0604020202020204" charset="0"/>
      <p:regular r:id="rId38"/>
      <p:bold r:id="rId39"/>
      <p:italic r:id="rId40"/>
      <p:boldItalic r:id="rId41"/>
    </p:embeddedFont>
    <p:embeddedFont>
      <p:font typeface="Poppins SemiBold" panose="020B0604020202020204" charset="0"/>
      <p:regular r:id="rId42"/>
      <p:bold r:id="rId43"/>
      <p:italic r:id="rId44"/>
      <p:boldItalic r:id="rId45"/>
    </p:embeddedFont>
    <p:embeddedFont>
      <p:font typeface="Poppins" panose="020B0604020202020204" charset="0"/>
      <p:regular r:id="rId46"/>
      <p:bold r:id="rId47"/>
      <p:italic r:id="rId48"/>
      <p:boldItalic r:id="rId49"/>
    </p:embeddedFont>
    <p:embeddedFont>
      <p:font typeface="Calibri" panose="020F050202020403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1CAA84-FF34-4053-83B9-34899810A1EA}">
  <a:tblStyle styleId="{911CAA84-FF34-4053-83B9-34899810A1E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font" Target="fonts/font2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0.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8224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6653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2417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1891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437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7731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1325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636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525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2552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2879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081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0403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126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531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6405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0741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14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935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3405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9246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126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7706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10662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978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56358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1797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39139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d96974881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g3d96974881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55932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3" name="Google Shape;44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2593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571500" y="5564196"/>
            <a:ext cx="5191125" cy="552450"/>
          </a:xfrm>
          <a:prstGeom prst="rect">
            <a:avLst/>
          </a:prstGeom>
          <a:noFill/>
          <a:ln>
            <a:noFill/>
          </a:ln>
        </p:spPr>
      </p:pic>
      <p:sp>
        <p:nvSpPr>
          <p:cNvPr id="85" name="Google Shape;85;p13"/>
          <p:cNvSpPr txBox="1"/>
          <p:nvPr/>
        </p:nvSpPr>
        <p:spPr>
          <a:xfrm>
            <a:off x="571500" y="1121271"/>
            <a:ext cx="545068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64FFDA"/>
                </a:solidFill>
                <a:latin typeface="Poppins SemiBold"/>
                <a:ea typeface="Poppins SemiBold"/>
                <a:cs typeface="Poppins SemiBold"/>
                <a:sym typeface="Poppins SemiBold"/>
              </a:rPr>
              <a:t>Mata </a:t>
            </a:r>
            <a:r>
              <a:rPr lang="en-US" sz="1800" b="0" i="0" u="none" strike="noStrike" cap="none" dirty="0" err="1">
                <a:solidFill>
                  <a:srgbClr val="64FFDA"/>
                </a:solidFill>
                <a:latin typeface="Poppins SemiBold"/>
                <a:ea typeface="Poppins SemiBold"/>
                <a:cs typeface="Poppins SemiBold"/>
                <a:sym typeface="Poppins SemiBold"/>
              </a:rPr>
              <a:t>Kuliah</a:t>
            </a:r>
            <a:r>
              <a:rPr lang="en-US" sz="1800" b="0" i="0" u="none" strike="noStrike" cap="none" dirty="0">
                <a:solidFill>
                  <a:srgbClr val="64FFDA"/>
                </a:solidFill>
                <a:latin typeface="Poppins SemiBold"/>
                <a:ea typeface="Poppins SemiBold"/>
                <a:cs typeface="Poppins SemiBold"/>
                <a:sym typeface="Poppins SemiBold"/>
              </a:rPr>
              <a:t>: </a:t>
            </a:r>
            <a:r>
              <a:rPr lang="en-US" sz="1800" b="0" i="0" u="none" strike="noStrike" cap="none" dirty="0" err="1">
                <a:solidFill>
                  <a:srgbClr val="64FFDA"/>
                </a:solidFill>
                <a:latin typeface="Poppins SemiBold"/>
                <a:ea typeface="Poppins SemiBold"/>
                <a:cs typeface="Poppins SemiBold"/>
                <a:sym typeface="Poppins SemiBold"/>
              </a:rPr>
              <a:t>Struktur</a:t>
            </a:r>
            <a:r>
              <a:rPr lang="en-US" sz="1800" b="0" i="0" u="none" strike="noStrike" cap="none" dirty="0">
                <a:solidFill>
                  <a:srgbClr val="64FFDA"/>
                </a:solidFill>
                <a:latin typeface="Poppins SemiBold"/>
                <a:ea typeface="Poppins SemiBold"/>
                <a:cs typeface="Poppins SemiBold"/>
                <a:sym typeface="Poppins SemiBold"/>
              </a:rPr>
              <a:t> Data </a:t>
            </a:r>
            <a:endParaRPr dirty="0"/>
          </a:p>
        </p:txBody>
      </p:sp>
      <p:sp>
        <p:nvSpPr>
          <p:cNvPr id="86" name="Google Shape;86;p13"/>
          <p:cNvSpPr txBox="1"/>
          <p:nvPr/>
        </p:nvSpPr>
        <p:spPr>
          <a:xfrm>
            <a:off x="571500" y="1549896"/>
            <a:ext cx="5450700" cy="23550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4500" b="1" i="0" u="none" strike="noStrike" cap="none">
                <a:solidFill>
                  <a:srgbClr val="FFD700"/>
                </a:solidFill>
                <a:latin typeface="Poppins"/>
                <a:ea typeface="Poppins"/>
                <a:cs typeface="Poppins"/>
                <a:sym typeface="Poppins"/>
              </a:rPr>
              <a:t>Pertemuan 9:</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4500" b="1" i="0" u="none" strike="noStrike" cap="none">
                <a:solidFill>
                  <a:srgbClr val="FFD700"/>
                </a:solidFill>
                <a:latin typeface="Poppins"/>
                <a:ea typeface="Poppins"/>
                <a:cs typeface="Poppins"/>
                <a:sym typeface="Poppins"/>
              </a:rPr>
              <a:t>Deque dan Priority Queue</a:t>
            </a:r>
            <a:endParaRPr/>
          </a:p>
        </p:txBody>
      </p:sp>
      <p:sp>
        <p:nvSpPr>
          <p:cNvPr id="87" name="Google Shape;87;p13"/>
          <p:cNvSpPr txBox="1"/>
          <p:nvPr/>
        </p:nvSpPr>
        <p:spPr>
          <a:xfrm>
            <a:off x="571500" y="4177714"/>
            <a:ext cx="5191200" cy="10668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650" b="0" i="0" u="none" strike="noStrike" cap="none">
                <a:solidFill>
                  <a:srgbClr val="CCD6F6"/>
                </a:solidFill>
                <a:latin typeface="Inter"/>
                <a:ea typeface="Inter"/>
                <a:cs typeface="Inter"/>
                <a:sym typeface="Inter"/>
              </a:rPr>
              <a:t>Evolusi dan variasi lanjutan dari struktur antrean (Queue) dalam menangani pemrosesan data non-linear dan berbasis prioritas.</a:t>
            </a:r>
            <a:endParaRPr/>
          </a:p>
        </p:txBody>
      </p:sp>
      <p:sp>
        <p:nvSpPr>
          <p:cNvPr id="88" name="Google Shape;88;p13"/>
          <p:cNvSpPr txBox="1"/>
          <p:nvPr/>
        </p:nvSpPr>
        <p:spPr>
          <a:xfrm>
            <a:off x="571500" y="5811846"/>
            <a:ext cx="5191200" cy="2310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SemiBold"/>
                <a:ea typeface="Inter SemiBold"/>
                <a:cs typeface="Inter SemiBold"/>
                <a:sym typeface="Inter SemiBold"/>
              </a:rPr>
              <a:t>Universitas Negeri Malang (UM)</a:t>
            </a:r>
            <a:endParaRPr/>
          </a:p>
        </p:txBody>
      </p:sp>
      <p:pic>
        <p:nvPicPr>
          <p:cNvPr id="89" name="Google Shape;89;p13" descr="image.png"/>
          <p:cNvPicPr preferRelativeResize="0"/>
          <p:nvPr/>
        </p:nvPicPr>
        <p:blipFill rotWithShape="1">
          <a:blip r:embed="rId4">
            <a:alphaModFix/>
          </a:blip>
          <a:srcRect/>
          <a:stretch/>
        </p:blipFill>
        <p:spPr>
          <a:xfrm>
            <a:off x="6810375" y="1905000"/>
            <a:ext cx="4429125" cy="2857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p:cNvSpPr txBox="1"/>
          <p:nvPr/>
        </p:nvSpPr>
        <p:spPr>
          <a:xfrm>
            <a:off x="1809750" y="2190750"/>
            <a:ext cx="9048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Pemahaman Deque:</a:t>
            </a:r>
            <a:r>
              <a:rPr lang="en-US" sz="1500" b="0" i="0" u="none" strike="noStrike" cap="none">
                <a:solidFill>
                  <a:srgbClr val="CCD6F6"/>
                </a:solidFill>
                <a:latin typeface="Inter"/>
                <a:ea typeface="Inter"/>
                <a:cs typeface="Inter"/>
                <a:sym typeface="Inter"/>
              </a:rPr>
              <a:t> Mahasiswa menguasai konsep Double Ended Queue, mekanisme akses ganda, dan variasi restriksinya.</a:t>
            </a:r>
            <a:endParaRPr/>
          </a:p>
        </p:txBody>
      </p:sp>
      <p:sp>
        <p:nvSpPr>
          <p:cNvPr id="96" name="Google Shape;96;p14"/>
          <p:cNvSpPr txBox="1"/>
          <p:nvPr/>
        </p:nvSpPr>
        <p:spPr>
          <a:xfrm>
            <a:off x="1809750" y="2952750"/>
            <a:ext cx="9048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Logika Prioritas:</a:t>
            </a:r>
            <a:r>
              <a:rPr lang="en-US" sz="1500" b="0" i="0" u="none" strike="noStrike" cap="none">
                <a:solidFill>
                  <a:srgbClr val="CCD6F6"/>
                </a:solidFill>
                <a:latin typeface="Inter"/>
                <a:ea typeface="Inter"/>
                <a:cs typeface="Inter"/>
                <a:sym typeface="Inter"/>
              </a:rPr>
              <a:t> Mahasiswa memahami konsep Priority Queue yang melanggar aturan murni FIFO demi efisiensi proses krusial.</a:t>
            </a:r>
            <a:endParaRPr/>
          </a:p>
        </p:txBody>
      </p:sp>
      <p:sp>
        <p:nvSpPr>
          <p:cNvPr id="97" name="Google Shape;97;p14"/>
          <p:cNvSpPr txBox="1"/>
          <p:nvPr/>
        </p:nvSpPr>
        <p:spPr>
          <a:xfrm>
            <a:off x="1809750" y="3714750"/>
            <a:ext cx="9048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Analisis Komparatif:</a:t>
            </a:r>
            <a:r>
              <a:rPr lang="en-US" sz="1500" b="0" i="0" u="none" strike="noStrike" cap="none">
                <a:solidFill>
                  <a:srgbClr val="CCD6F6"/>
                </a:solidFill>
                <a:latin typeface="Inter"/>
                <a:ea typeface="Inter"/>
                <a:cs typeface="Inter"/>
                <a:sym typeface="Inter"/>
              </a:rPr>
              <a:t> Mahasiswa mampu membedakan dan membandingkan Standard Queue, Deque, dan Priority Queue secara sistematis.</a:t>
            </a:r>
            <a:endParaRPr/>
          </a:p>
        </p:txBody>
      </p:sp>
      <p:sp>
        <p:nvSpPr>
          <p:cNvPr id="98" name="Google Shape;98;p14"/>
          <p:cNvSpPr txBox="1"/>
          <p:nvPr/>
        </p:nvSpPr>
        <p:spPr>
          <a:xfrm>
            <a:off x="1809750" y="4476750"/>
            <a:ext cx="9048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Implementasi Solusi:</a:t>
            </a:r>
            <a:r>
              <a:rPr lang="en-US" sz="1500" b="0" i="0" u="none" strike="noStrike" cap="none">
                <a:solidFill>
                  <a:srgbClr val="CCD6F6"/>
                </a:solidFill>
                <a:latin typeface="Inter"/>
                <a:ea typeface="Inter"/>
                <a:cs typeface="Inter"/>
                <a:sym typeface="Inter"/>
              </a:rPr>
              <a:t> Mahasiswa mampu memilih, merancang, dan mengimplementasikan arsitektur antrean yang tepat untuk studi kasus spesifik dalam C++.</a:t>
            </a:r>
            <a:endParaRPr/>
          </a:p>
        </p:txBody>
      </p:sp>
      <p:pic>
        <p:nvPicPr>
          <p:cNvPr id="99" name="Google Shape;99;p14" descr="image.png"/>
          <p:cNvPicPr preferRelativeResize="0"/>
          <p:nvPr/>
        </p:nvPicPr>
        <p:blipFill rotWithShape="1">
          <a:blip r:embed="rId4">
            <a:alphaModFix/>
          </a:blip>
          <a:srcRect/>
          <a:stretch/>
        </p:blipFill>
        <p:spPr>
          <a:xfrm>
            <a:off x="1333500" y="2219325"/>
            <a:ext cx="228600" cy="247650"/>
          </a:xfrm>
          <a:prstGeom prst="rect">
            <a:avLst/>
          </a:prstGeom>
          <a:noFill/>
          <a:ln>
            <a:noFill/>
          </a:ln>
        </p:spPr>
      </p:pic>
      <p:pic>
        <p:nvPicPr>
          <p:cNvPr id="100" name="Google Shape;100;p14" descr="image.png"/>
          <p:cNvPicPr preferRelativeResize="0"/>
          <p:nvPr/>
        </p:nvPicPr>
        <p:blipFill rotWithShape="1">
          <a:blip r:embed="rId4">
            <a:alphaModFix/>
          </a:blip>
          <a:srcRect/>
          <a:stretch/>
        </p:blipFill>
        <p:spPr>
          <a:xfrm>
            <a:off x="1333500" y="2981325"/>
            <a:ext cx="228600" cy="247650"/>
          </a:xfrm>
          <a:prstGeom prst="rect">
            <a:avLst/>
          </a:prstGeom>
          <a:noFill/>
          <a:ln>
            <a:noFill/>
          </a:ln>
        </p:spPr>
      </p:pic>
      <p:pic>
        <p:nvPicPr>
          <p:cNvPr id="101" name="Google Shape;101;p14" descr="image.png"/>
          <p:cNvPicPr preferRelativeResize="0"/>
          <p:nvPr/>
        </p:nvPicPr>
        <p:blipFill rotWithShape="1">
          <a:blip r:embed="rId4">
            <a:alphaModFix/>
          </a:blip>
          <a:srcRect/>
          <a:stretch/>
        </p:blipFill>
        <p:spPr>
          <a:xfrm>
            <a:off x="1333500" y="3743325"/>
            <a:ext cx="228600" cy="247650"/>
          </a:xfrm>
          <a:prstGeom prst="rect">
            <a:avLst/>
          </a:prstGeom>
          <a:noFill/>
          <a:ln>
            <a:noFill/>
          </a:ln>
        </p:spPr>
      </p:pic>
      <p:pic>
        <p:nvPicPr>
          <p:cNvPr id="102" name="Google Shape;102;p14" descr="image.png"/>
          <p:cNvPicPr preferRelativeResize="0"/>
          <p:nvPr/>
        </p:nvPicPr>
        <p:blipFill rotWithShape="1">
          <a:blip r:embed="rId4">
            <a:alphaModFix/>
          </a:blip>
          <a:srcRect/>
          <a:stretch/>
        </p:blipFill>
        <p:spPr>
          <a:xfrm>
            <a:off x="1333500" y="4505325"/>
            <a:ext cx="228600" cy="247650"/>
          </a:xfrm>
          <a:prstGeom prst="rect">
            <a:avLst/>
          </a:prstGeom>
          <a:noFill/>
          <a:ln>
            <a:noFill/>
          </a:ln>
        </p:spPr>
      </p:pic>
      <p:sp>
        <p:nvSpPr>
          <p:cNvPr id="103" name="Google Shape;103;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Tujuan Pembelajaran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9" name="Google Shape;109;p15"/>
          <p:cNvSpPr txBox="1"/>
          <p:nvPr/>
        </p:nvSpPr>
        <p:spPr>
          <a:xfrm>
            <a:off x="1285398" y="1956494"/>
            <a:ext cx="9621202"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FD700"/>
                </a:solidFill>
                <a:latin typeface="Poppins"/>
                <a:ea typeface="Poppins"/>
                <a:cs typeface="Poppins"/>
                <a:sym typeface="Poppins"/>
              </a:rPr>
              <a:t>1. Deque (Double Ended Queue)</a:t>
            </a:r>
            <a:endParaRPr/>
          </a:p>
        </p:txBody>
      </p:sp>
      <p:sp>
        <p:nvSpPr>
          <p:cNvPr id="110" name="Google Shape;110;p15"/>
          <p:cNvSpPr txBox="1"/>
          <p:nvPr/>
        </p:nvSpPr>
        <p:spPr>
          <a:xfrm>
            <a:off x="2286000" y="3004244"/>
            <a:ext cx="7620000" cy="1097012"/>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CCD6F6"/>
                </a:solidFill>
                <a:latin typeface="Inter"/>
                <a:ea typeface="Inter"/>
                <a:cs typeface="Inter"/>
                <a:sym typeface="Inter"/>
              </a:rPr>
              <a:t>Struktur data hibrida yang mendobrak aturan ketat satu arah dari Queue standar. Menawarkan fleksibilitas mutlak dengan membuka kedua sisi antrean untuk operasi penyisipan maupun penghapusan.</a:t>
            </a:r>
            <a:endParaRPr/>
          </a:p>
        </p:txBody>
      </p:sp>
      <p:sp>
        <p:nvSpPr>
          <p:cNvPr id="111" name="Google Shape;111;p15"/>
          <p:cNvSpPr/>
          <p:nvPr/>
        </p:nvSpPr>
        <p:spPr>
          <a:xfrm>
            <a:off x="5381625" y="4482256"/>
            <a:ext cx="1428750" cy="38100"/>
          </a:xfrm>
          <a:prstGeom prst="rect">
            <a:avLst/>
          </a:prstGeom>
          <a:solidFill>
            <a:srgbClr val="64FF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115"/>
        <p:cNvGrpSpPr/>
        <p:nvPr/>
      </p:nvGrpSpPr>
      <p:grpSpPr>
        <a:xfrm>
          <a:off x="0" y="0"/>
          <a:ext cx="0" cy="0"/>
          <a:chOff x="0" y="0"/>
          <a:chExt cx="0" cy="0"/>
        </a:xfrm>
      </p:grpSpPr>
      <p:sp>
        <p:nvSpPr>
          <p:cNvPr id="116" name="Google Shape;116;p16"/>
          <p:cNvSpPr txBox="1"/>
          <p:nvPr/>
        </p:nvSpPr>
        <p:spPr>
          <a:xfrm>
            <a:off x="1047750" y="1809750"/>
            <a:ext cx="4810200" cy="12699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Akses Dua Arah:</a:t>
            </a:r>
            <a:r>
              <a:rPr lang="en-US" sz="1500" b="0" i="0" u="none" strike="noStrike" cap="none">
                <a:solidFill>
                  <a:srgbClr val="CCD6F6"/>
                </a:solidFill>
                <a:latin typeface="Inter"/>
                <a:ea typeface="Inter"/>
                <a:cs typeface="Inter"/>
                <a:sym typeface="Inter"/>
              </a:rPr>
              <a:t> Berbeda dengan Queue standar (Insert hanya di Rear, Delete hanya di Front), Deque memungkinkan Insert dan Delete dilakukan di </a:t>
            </a:r>
            <a:r>
              <a:rPr lang="en-US" sz="1500" b="0" i="0" u="none" strike="noStrike" cap="none">
                <a:solidFill>
                  <a:srgbClr val="64FFDA"/>
                </a:solidFill>
                <a:latin typeface="Inter SemiBold"/>
                <a:ea typeface="Inter SemiBold"/>
                <a:cs typeface="Inter SemiBold"/>
                <a:sym typeface="Inter SemiBold"/>
              </a:rPr>
              <a:t>kedua ujung</a:t>
            </a:r>
            <a:r>
              <a:rPr lang="en-US" sz="1500" b="0" i="0" u="none" strike="noStrike" cap="none">
                <a:solidFill>
                  <a:srgbClr val="CCD6F6"/>
                </a:solidFill>
                <a:latin typeface="Inter"/>
                <a:ea typeface="Inter"/>
                <a:cs typeface="Inter"/>
                <a:sym typeface="Inter"/>
              </a:rPr>
              <a:t> (Front maupun Rear).</a:t>
            </a:r>
            <a:endParaRPr/>
          </a:p>
        </p:txBody>
      </p:sp>
      <p:sp>
        <p:nvSpPr>
          <p:cNvPr id="117" name="Google Shape;117;p16"/>
          <p:cNvSpPr txBox="1"/>
          <p:nvPr/>
        </p:nvSpPr>
        <p:spPr>
          <a:xfrm>
            <a:off x="1047750" y="3201699"/>
            <a:ext cx="4810200" cy="9234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Sifat Hibrida:</a:t>
            </a:r>
            <a:r>
              <a:rPr lang="en-US" sz="1500" b="0" i="0" u="none" strike="noStrike" cap="none">
                <a:solidFill>
                  <a:srgbClr val="CCD6F6"/>
                </a:solidFill>
                <a:latin typeface="Inter"/>
                <a:ea typeface="Inter"/>
                <a:cs typeface="Inter"/>
                <a:sym typeface="Inter"/>
              </a:rPr>
              <a:t> Deque dapat difungsikan murni sebagai Stack (LIFO) atau murni sebagai Queue (FIFO) sesuai kebutuhan aplikasi.</a:t>
            </a:r>
            <a:endParaRPr/>
          </a:p>
        </p:txBody>
      </p:sp>
      <p:sp>
        <p:nvSpPr>
          <p:cNvPr id="118" name="Google Shape;118;p16"/>
          <p:cNvSpPr txBox="1"/>
          <p:nvPr/>
        </p:nvSpPr>
        <p:spPr>
          <a:xfrm>
            <a:off x="1047750" y="4298156"/>
            <a:ext cx="4810200" cy="9234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Pengucapan:</a:t>
            </a:r>
            <a:r>
              <a:rPr lang="en-US" sz="1500" b="0" i="0" u="none" strike="noStrike" cap="none">
                <a:solidFill>
                  <a:srgbClr val="CCD6F6"/>
                </a:solidFill>
                <a:latin typeface="Inter"/>
                <a:ea typeface="Inter"/>
                <a:cs typeface="Inter"/>
                <a:sym typeface="Inter"/>
              </a:rPr>
              <a:t> Sering salah diucapkan. Deque diucapkan sebagai </a:t>
            </a:r>
            <a:r>
              <a:rPr lang="en-US" sz="1500" b="0" i="1" u="none" strike="noStrike" cap="none">
                <a:solidFill>
                  <a:srgbClr val="CCD6F6"/>
                </a:solidFill>
                <a:latin typeface="Inter"/>
                <a:ea typeface="Inter"/>
                <a:cs typeface="Inter"/>
                <a:sym typeface="Inter"/>
              </a:rPr>
              <a:t>"deck"</a:t>
            </a:r>
            <a:r>
              <a:rPr lang="en-US" sz="1500" b="0" i="0" u="none" strike="noStrike" cap="none">
                <a:solidFill>
                  <a:srgbClr val="CCD6F6"/>
                </a:solidFill>
                <a:latin typeface="Inter"/>
                <a:ea typeface="Inter"/>
                <a:cs typeface="Inter"/>
                <a:sym typeface="Inter"/>
              </a:rPr>
              <a:t> (seperti tumpukan kartu/deck of cards).</a:t>
            </a:r>
            <a:endParaRPr/>
          </a:p>
        </p:txBody>
      </p:sp>
      <p:pic>
        <p:nvPicPr>
          <p:cNvPr id="119" name="Google Shape;119;p16" descr="image.png"/>
          <p:cNvPicPr preferRelativeResize="0"/>
          <p:nvPr/>
        </p:nvPicPr>
        <p:blipFill rotWithShape="1">
          <a:blip r:embed="rId3">
            <a:alphaModFix/>
          </a:blip>
          <a:srcRect/>
          <a:stretch/>
        </p:blipFill>
        <p:spPr>
          <a:xfrm>
            <a:off x="571500" y="1838325"/>
            <a:ext cx="228600" cy="247650"/>
          </a:xfrm>
          <a:prstGeom prst="rect">
            <a:avLst/>
          </a:prstGeom>
          <a:noFill/>
          <a:ln>
            <a:noFill/>
          </a:ln>
        </p:spPr>
      </p:pic>
      <p:pic>
        <p:nvPicPr>
          <p:cNvPr id="120" name="Google Shape;120;p16" descr="image.png"/>
          <p:cNvPicPr preferRelativeResize="0"/>
          <p:nvPr/>
        </p:nvPicPr>
        <p:blipFill rotWithShape="1">
          <a:blip r:embed="rId4">
            <a:alphaModFix/>
          </a:blip>
          <a:srcRect/>
          <a:stretch/>
        </p:blipFill>
        <p:spPr>
          <a:xfrm>
            <a:off x="571500" y="3201049"/>
            <a:ext cx="200025" cy="247650"/>
          </a:xfrm>
          <a:prstGeom prst="rect">
            <a:avLst/>
          </a:prstGeom>
          <a:noFill/>
          <a:ln>
            <a:noFill/>
          </a:ln>
        </p:spPr>
      </p:pic>
      <p:pic>
        <p:nvPicPr>
          <p:cNvPr id="121" name="Google Shape;121;p16" descr="image.png"/>
          <p:cNvPicPr preferRelativeResize="0"/>
          <p:nvPr/>
        </p:nvPicPr>
        <p:blipFill rotWithShape="1">
          <a:blip r:embed="rId5">
            <a:alphaModFix/>
          </a:blip>
          <a:srcRect/>
          <a:stretch/>
        </p:blipFill>
        <p:spPr>
          <a:xfrm>
            <a:off x="571500" y="4326731"/>
            <a:ext cx="285750" cy="247650"/>
          </a:xfrm>
          <a:prstGeom prst="rect">
            <a:avLst/>
          </a:prstGeom>
          <a:noFill/>
          <a:ln>
            <a:noFill/>
          </a:ln>
        </p:spPr>
      </p:pic>
      <p:sp>
        <p:nvSpPr>
          <p:cNvPr id="122" name="Google Shape;122;p1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Konsep Double Ended Queue (Deque)</a:t>
            </a:r>
            <a:endParaRPr/>
          </a:p>
        </p:txBody>
      </p:sp>
      <p:pic>
        <p:nvPicPr>
          <p:cNvPr id="123" name="Google Shape;123;p16"/>
          <p:cNvPicPr preferRelativeResize="0"/>
          <p:nvPr/>
        </p:nvPicPr>
        <p:blipFill>
          <a:blip r:embed="rId6">
            <a:alphaModFix/>
          </a:blip>
          <a:stretch>
            <a:fillRect/>
          </a:stretch>
        </p:blipFill>
        <p:spPr>
          <a:xfrm>
            <a:off x="6653275" y="2264525"/>
            <a:ext cx="4663722" cy="2328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127"/>
        <p:cNvGrpSpPr/>
        <p:nvPr/>
      </p:nvGrpSpPr>
      <p:grpSpPr>
        <a:xfrm>
          <a:off x="0" y="0"/>
          <a:ext cx="0" cy="0"/>
          <a:chOff x="0" y="0"/>
          <a:chExt cx="0" cy="0"/>
        </a:xfrm>
      </p:grpSpPr>
      <p:pic>
        <p:nvPicPr>
          <p:cNvPr id="128" name="Google Shape;128;p17" descr="image.png"/>
          <p:cNvPicPr preferRelativeResize="0"/>
          <p:nvPr/>
        </p:nvPicPr>
        <p:blipFill rotWithShape="1">
          <a:blip r:embed="rId3">
            <a:alphaModFix/>
          </a:blip>
          <a:srcRect/>
          <a:stretch/>
        </p:blipFill>
        <p:spPr>
          <a:xfrm>
            <a:off x="571500" y="1491528"/>
            <a:ext cx="3492549" cy="4371975"/>
          </a:xfrm>
          <a:prstGeom prst="rect">
            <a:avLst/>
          </a:prstGeom>
          <a:noFill/>
          <a:ln>
            <a:noFill/>
          </a:ln>
        </p:spPr>
      </p:pic>
      <p:pic>
        <p:nvPicPr>
          <p:cNvPr id="129" name="Google Shape;129;p17" descr="image.png"/>
          <p:cNvPicPr preferRelativeResize="0"/>
          <p:nvPr/>
        </p:nvPicPr>
        <p:blipFill rotWithShape="1">
          <a:blip r:embed="rId4">
            <a:alphaModFix/>
          </a:blip>
          <a:srcRect/>
          <a:stretch/>
        </p:blipFill>
        <p:spPr>
          <a:xfrm>
            <a:off x="4349799" y="1491528"/>
            <a:ext cx="3492549" cy="4371975"/>
          </a:xfrm>
          <a:prstGeom prst="rect">
            <a:avLst/>
          </a:prstGeom>
          <a:noFill/>
          <a:ln>
            <a:noFill/>
          </a:ln>
        </p:spPr>
      </p:pic>
      <p:pic>
        <p:nvPicPr>
          <p:cNvPr id="130" name="Google Shape;130;p17" descr="image.png"/>
          <p:cNvPicPr preferRelativeResize="0"/>
          <p:nvPr/>
        </p:nvPicPr>
        <p:blipFill rotWithShape="1">
          <a:blip r:embed="rId5">
            <a:alphaModFix/>
          </a:blip>
          <a:srcRect/>
          <a:stretch/>
        </p:blipFill>
        <p:spPr>
          <a:xfrm>
            <a:off x="8128099" y="1491528"/>
            <a:ext cx="3492549" cy="4371975"/>
          </a:xfrm>
          <a:prstGeom prst="rect">
            <a:avLst/>
          </a:prstGeom>
          <a:noFill/>
          <a:ln>
            <a:noFill/>
          </a:ln>
        </p:spPr>
      </p:pic>
      <p:sp>
        <p:nvSpPr>
          <p:cNvPr id="131" name="Google Shape;131;p17"/>
          <p:cNvSpPr txBox="1"/>
          <p:nvPr/>
        </p:nvSpPr>
        <p:spPr>
          <a:xfrm>
            <a:off x="866775" y="2444028"/>
            <a:ext cx="30471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CCD6F6"/>
                </a:solidFill>
                <a:latin typeface="Poppins SemiBold"/>
                <a:ea typeface="Poppins SemiBold"/>
                <a:cs typeface="Poppins SemiBold"/>
                <a:sym typeface="Poppins SemiBold"/>
              </a:rPr>
              <a:t>Insert &amp; Delete Front</a:t>
            </a:r>
            <a:endParaRPr/>
          </a:p>
        </p:txBody>
      </p:sp>
      <p:sp>
        <p:nvSpPr>
          <p:cNvPr id="132" name="Google Shape;132;p17"/>
          <p:cNvSpPr txBox="1"/>
          <p:nvPr/>
        </p:nvSpPr>
        <p:spPr>
          <a:xfrm>
            <a:off x="866775" y="2986953"/>
            <a:ext cx="2901900" cy="24474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8892B0"/>
                </a:solidFill>
                <a:latin typeface="Inter"/>
                <a:ea typeface="Inter"/>
                <a:cs typeface="Inter"/>
                <a:sym typeface="Inter"/>
              </a:rPr>
              <a:t>insertFront(x):</a:t>
            </a:r>
            <a:r>
              <a:rPr lang="en-US" sz="1500" b="0" i="0" u="none" strike="noStrike" cap="none">
                <a:solidFill>
                  <a:srgbClr val="8892B0"/>
                </a:solidFill>
                <a:latin typeface="Inter"/>
                <a:ea typeface="Inter"/>
                <a:cs typeface="Inter"/>
                <a:sym typeface="Inter"/>
              </a:rPr>
              <a:t> Menyisipkan elemen di posisi paling depan antrean.</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500" b="1" i="0" u="none" strike="noStrike" cap="none">
                <a:solidFill>
                  <a:srgbClr val="8892B0"/>
                </a:solidFill>
                <a:latin typeface="Inter"/>
                <a:ea typeface="Inter"/>
                <a:cs typeface="Inter"/>
                <a:sym typeface="Inter"/>
              </a:rPr>
              <a:t>deleteFront():</a:t>
            </a:r>
            <a:r>
              <a:rPr lang="en-US" sz="1500" b="0" i="0" u="none" strike="noStrike" cap="none">
                <a:solidFill>
                  <a:srgbClr val="8892B0"/>
                </a:solidFill>
                <a:latin typeface="Inter"/>
                <a:ea typeface="Inter"/>
                <a:cs typeface="Inter"/>
                <a:sym typeface="Inter"/>
              </a:rPr>
              <a:t> Menghapus dan mengambil elemen dari posisi paling depan. </a:t>
            </a:r>
            <a:r>
              <a:rPr lang="en-US" sz="1500" b="0" i="1" u="none" strike="noStrike" cap="none">
                <a:solidFill>
                  <a:srgbClr val="8892B0"/>
                </a:solidFill>
                <a:latin typeface="Inter"/>
                <a:ea typeface="Inter"/>
                <a:cs typeface="Inter"/>
                <a:sym typeface="Inter"/>
              </a:rPr>
              <a:t>(Sama seperti Dequeue biasa)</a:t>
            </a:r>
            <a:r>
              <a:rPr lang="en-US" sz="1500" b="0" i="0" u="none" strike="noStrike" cap="none">
                <a:solidFill>
                  <a:srgbClr val="8892B0"/>
                </a:solidFill>
                <a:latin typeface="Inter"/>
                <a:ea typeface="Inter"/>
                <a:cs typeface="Inter"/>
                <a:sym typeface="Inter"/>
              </a:rPr>
              <a:t>.</a:t>
            </a:r>
            <a:endParaRPr/>
          </a:p>
        </p:txBody>
      </p:sp>
      <p:sp>
        <p:nvSpPr>
          <p:cNvPr id="133" name="Google Shape;133;p17"/>
          <p:cNvSpPr txBox="1"/>
          <p:nvPr/>
        </p:nvSpPr>
        <p:spPr>
          <a:xfrm>
            <a:off x="4645074" y="2444028"/>
            <a:ext cx="30471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CCD6F6"/>
                </a:solidFill>
                <a:latin typeface="Poppins SemiBold"/>
                <a:ea typeface="Poppins SemiBold"/>
                <a:cs typeface="Poppins SemiBold"/>
                <a:sym typeface="Poppins SemiBold"/>
              </a:rPr>
              <a:t>Insert &amp; Delete Rear</a:t>
            </a:r>
            <a:endParaRPr/>
          </a:p>
        </p:txBody>
      </p:sp>
      <p:sp>
        <p:nvSpPr>
          <p:cNvPr id="134" name="Google Shape;134;p17"/>
          <p:cNvSpPr txBox="1"/>
          <p:nvPr/>
        </p:nvSpPr>
        <p:spPr>
          <a:xfrm>
            <a:off x="4645074" y="2986953"/>
            <a:ext cx="2901900" cy="24474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8892B0"/>
                </a:solidFill>
                <a:latin typeface="Inter"/>
                <a:ea typeface="Inter"/>
                <a:cs typeface="Inter"/>
                <a:sym typeface="Inter"/>
              </a:rPr>
              <a:t>insertRear(x):</a:t>
            </a:r>
            <a:r>
              <a:rPr lang="en-US" sz="1500" b="0" i="0" u="none" strike="noStrike" cap="none">
                <a:solidFill>
                  <a:srgbClr val="8892B0"/>
                </a:solidFill>
                <a:latin typeface="Inter"/>
                <a:ea typeface="Inter"/>
                <a:cs typeface="Inter"/>
                <a:sym typeface="Inter"/>
              </a:rPr>
              <a:t> Menyisipkan elemen di posisi paling belakang. </a:t>
            </a:r>
            <a:r>
              <a:rPr lang="en-US" sz="1500" b="0" i="1" u="none" strike="noStrike" cap="none">
                <a:solidFill>
                  <a:srgbClr val="8892B0"/>
                </a:solidFill>
                <a:latin typeface="Inter"/>
                <a:ea typeface="Inter"/>
                <a:cs typeface="Inter"/>
                <a:sym typeface="Inter"/>
              </a:rPr>
              <a:t>(Sama seperti Enqueue biasa)</a:t>
            </a:r>
            <a:r>
              <a:rPr lang="en-US" sz="1500" b="0" i="0" u="none" strike="noStrike" cap="none">
                <a:solidFill>
                  <a:srgbClr val="8892B0"/>
                </a:solidFill>
                <a:latin typeface="Inter"/>
                <a:ea typeface="Inter"/>
                <a:cs typeface="Inter"/>
                <a:sym typeface="Inter"/>
              </a:rPr>
              <a:t>.</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500" b="1" i="0" u="none" strike="noStrike" cap="none">
                <a:solidFill>
                  <a:srgbClr val="8892B0"/>
                </a:solidFill>
                <a:latin typeface="Inter"/>
                <a:ea typeface="Inter"/>
                <a:cs typeface="Inter"/>
                <a:sym typeface="Inter"/>
              </a:rPr>
              <a:t>deleteRear():</a:t>
            </a:r>
            <a:r>
              <a:rPr lang="en-US" sz="1500" b="0" i="0" u="none" strike="noStrike" cap="none">
                <a:solidFill>
                  <a:srgbClr val="8892B0"/>
                </a:solidFill>
                <a:latin typeface="Inter"/>
                <a:ea typeface="Inter"/>
                <a:cs typeface="Inter"/>
                <a:sym typeface="Inter"/>
              </a:rPr>
              <a:t> Menghapus dan mengambil elemen dari posisi paling belakang antrean.</a:t>
            </a:r>
            <a:endParaRPr/>
          </a:p>
        </p:txBody>
      </p:sp>
      <p:sp>
        <p:nvSpPr>
          <p:cNvPr id="135" name="Google Shape;135;p17"/>
          <p:cNvSpPr txBox="1"/>
          <p:nvPr/>
        </p:nvSpPr>
        <p:spPr>
          <a:xfrm>
            <a:off x="8423374" y="2444028"/>
            <a:ext cx="30471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CCD6F6"/>
                </a:solidFill>
                <a:latin typeface="Poppins SemiBold"/>
                <a:ea typeface="Poppins SemiBold"/>
                <a:cs typeface="Poppins SemiBold"/>
                <a:sym typeface="Poppins SemiBold"/>
              </a:rPr>
              <a:t>Pemeriksaan Status</a:t>
            </a:r>
            <a:endParaRPr/>
          </a:p>
        </p:txBody>
      </p:sp>
      <p:sp>
        <p:nvSpPr>
          <p:cNvPr id="136" name="Google Shape;136;p17"/>
          <p:cNvSpPr txBox="1"/>
          <p:nvPr/>
        </p:nvSpPr>
        <p:spPr>
          <a:xfrm>
            <a:off x="8423374" y="2986953"/>
            <a:ext cx="2901900" cy="24474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8892B0"/>
                </a:solidFill>
                <a:latin typeface="Inter"/>
                <a:ea typeface="Inter"/>
                <a:cs typeface="Inter"/>
                <a:sym typeface="Inter"/>
              </a:rPr>
              <a:t>getFront() / getRear():</a:t>
            </a:r>
            <a:r>
              <a:rPr lang="en-US" sz="1500" b="0" i="0" u="none" strike="noStrike" cap="none">
                <a:solidFill>
                  <a:srgbClr val="8892B0"/>
                </a:solidFill>
                <a:latin typeface="Inter"/>
                <a:ea typeface="Inter"/>
                <a:cs typeface="Inter"/>
                <a:sym typeface="Inter"/>
              </a:rPr>
              <a:t> Mengintip elemen di ujung tanpa menghapus.</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500" b="1" i="0" u="none" strike="noStrike" cap="none">
                <a:solidFill>
                  <a:srgbClr val="8892B0"/>
                </a:solidFill>
                <a:latin typeface="Inter"/>
                <a:ea typeface="Inter"/>
                <a:cs typeface="Inter"/>
                <a:sym typeface="Inter"/>
              </a:rPr>
              <a:t>isEmpty() / isFull():</a:t>
            </a:r>
            <a:r>
              <a:rPr lang="en-US" sz="1500" b="0" i="0" u="none" strike="noStrike" cap="none">
                <a:solidFill>
                  <a:srgbClr val="8892B0"/>
                </a:solidFill>
                <a:latin typeface="Inter"/>
                <a:ea typeface="Inter"/>
                <a:cs typeface="Inter"/>
                <a:sym typeface="Inter"/>
              </a:rPr>
              <a:t> Validasi apakah Deque kosong atau telah melampaui kapasitas memori statis.</a:t>
            </a:r>
            <a:endParaRPr/>
          </a:p>
        </p:txBody>
      </p:sp>
      <p:pic>
        <p:nvPicPr>
          <p:cNvPr id="137" name="Google Shape;137;p17" descr="image.png"/>
          <p:cNvPicPr preferRelativeResize="0"/>
          <p:nvPr/>
        </p:nvPicPr>
        <p:blipFill rotWithShape="1">
          <a:blip r:embed="rId6">
            <a:alphaModFix/>
          </a:blip>
          <a:srcRect/>
          <a:stretch/>
        </p:blipFill>
        <p:spPr>
          <a:xfrm>
            <a:off x="866775" y="1824903"/>
            <a:ext cx="381000" cy="381000"/>
          </a:xfrm>
          <a:prstGeom prst="rect">
            <a:avLst/>
          </a:prstGeom>
          <a:noFill/>
          <a:ln>
            <a:noFill/>
          </a:ln>
        </p:spPr>
      </p:pic>
      <p:pic>
        <p:nvPicPr>
          <p:cNvPr id="138" name="Google Shape;138;p17" descr="image.png"/>
          <p:cNvPicPr preferRelativeResize="0"/>
          <p:nvPr/>
        </p:nvPicPr>
        <p:blipFill rotWithShape="1">
          <a:blip r:embed="rId7">
            <a:alphaModFix/>
          </a:blip>
          <a:srcRect/>
          <a:stretch/>
        </p:blipFill>
        <p:spPr>
          <a:xfrm>
            <a:off x="4645074" y="1824903"/>
            <a:ext cx="381000" cy="381000"/>
          </a:xfrm>
          <a:prstGeom prst="rect">
            <a:avLst/>
          </a:prstGeom>
          <a:noFill/>
          <a:ln>
            <a:noFill/>
          </a:ln>
        </p:spPr>
      </p:pic>
      <p:pic>
        <p:nvPicPr>
          <p:cNvPr id="139" name="Google Shape;139;p17" descr="image.png"/>
          <p:cNvPicPr preferRelativeResize="0"/>
          <p:nvPr/>
        </p:nvPicPr>
        <p:blipFill rotWithShape="1">
          <a:blip r:embed="rId8">
            <a:alphaModFix/>
          </a:blip>
          <a:srcRect/>
          <a:stretch/>
        </p:blipFill>
        <p:spPr>
          <a:xfrm>
            <a:off x="8423374" y="1824903"/>
            <a:ext cx="381000" cy="381000"/>
          </a:xfrm>
          <a:prstGeom prst="rect">
            <a:avLst/>
          </a:prstGeom>
          <a:noFill/>
          <a:ln>
            <a:noFill/>
          </a:ln>
        </p:spPr>
      </p:pic>
      <p:sp>
        <p:nvSpPr>
          <p:cNvPr id="140" name="Google Shape;140;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Operasi Dasar pada Deque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144"/>
        <p:cNvGrpSpPr/>
        <p:nvPr/>
      </p:nvGrpSpPr>
      <p:grpSpPr>
        <a:xfrm>
          <a:off x="0" y="0"/>
          <a:ext cx="0" cy="0"/>
          <a:chOff x="0" y="0"/>
          <a:chExt cx="0" cy="0"/>
        </a:xfrm>
      </p:grpSpPr>
      <p:sp>
        <p:nvSpPr>
          <p:cNvPr id="145" name="Google Shape;145;p18"/>
          <p:cNvSpPr txBox="1"/>
          <p:nvPr/>
        </p:nvSpPr>
        <p:spPr>
          <a:xfrm>
            <a:off x="571500" y="1503435"/>
            <a:ext cx="5550600" cy="2772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800" b="0" i="0" u="none" strike="noStrike" cap="none">
                <a:solidFill>
                  <a:srgbClr val="64FFDA"/>
                </a:solidFill>
                <a:latin typeface="Poppins SemiBold"/>
                <a:ea typeface="Poppins SemiBold"/>
                <a:cs typeface="Poppins SemiBold"/>
                <a:sym typeface="Poppins SemiBold"/>
              </a:rPr>
              <a:t>Pembatasan Akses Masuk</a:t>
            </a:r>
            <a:endParaRPr/>
          </a:p>
        </p:txBody>
      </p:sp>
      <p:sp>
        <p:nvSpPr>
          <p:cNvPr id="146" name="Google Shape;146;p18"/>
          <p:cNvSpPr txBox="1"/>
          <p:nvPr/>
        </p:nvSpPr>
        <p:spPr>
          <a:xfrm>
            <a:off x="571500" y="1979685"/>
            <a:ext cx="5286300" cy="13392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Adalah jenis Deque di mana proses </a:t>
            </a:r>
            <a:r>
              <a:rPr lang="en-US" sz="1500" b="1" i="0" u="none" strike="noStrike" cap="none">
                <a:solidFill>
                  <a:srgbClr val="8892B0"/>
                </a:solidFill>
                <a:latin typeface="Inter"/>
                <a:ea typeface="Inter"/>
                <a:cs typeface="Inter"/>
                <a:sym typeface="Inter"/>
              </a:rPr>
              <a:t>Penyisipan (Insertion) dibatasi hanya pada satu sisi</a:t>
            </a:r>
            <a:r>
              <a:rPr lang="en-US" sz="1500" b="0" i="0" u="none" strike="noStrike" cap="none">
                <a:solidFill>
                  <a:srgbClr val="8892B0"/>
                </a:solidFill>
                <a:latin typeface="Inter"/>
                <a:ea typeface="Inter"/>
                <a:cs typeface="Inter"/>
                <a:sym typeface="Inter"/>
              </a:rPr>
              <a:t> (biasanya Rear), sedangkan proses Penghapusan (Deletion) tetap diizinkan di kedua sisi (Front dan Rear).</a:t>
            </a:r>
            <a:endParaRPr/>
          </a:p>
        </p:txBody>
      </p:sp>
      <p:sp>
        <p:nvSpPr>
          <p:cNvPr id="147" name="Google Shape;147;p18"/>
          <p:cNvSpPr txBox="1"/>
          <p:nvPr/>
        </p:nvSpPr>
        <p:spPr>
          <a:xfrm>
            <a:off x="571500" y="4503810"/>
            <a:ext cx="5286300" cy="13392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FFD700"/>
                </a:solidFill>
                <a:latin typeface="Inter"/>
                <a:ea typeface="Inter"/>
                <a:cs typeface="Inter"/>
                <a:sym typeface="Inter"/>
              </a:rPr>
              <a:t>Guna: Sistem di mana entitas baru wajib antre di belakang, tetapi administrator bisa membatalkan (menghapus) elemen yang sedang diproses di depan atau elemen terakhir di belakang.</a:t>
            </a:r>
            <a:endParaRPr/>
          </a:p>
        </p:txBody>
      </p:sp>
      <p:sp>
        <p:nvSpPr>
          <p:cNvPr id="148" name="Google Shape;148;p18"/>
          <p:cNvSpPr txBox="1"/>
          <p:nvPr/>
        </p:nvSpPr>
        <p:spPr>
          <a:xfrm>
            <a:off x="583623" y="3389385"/>
            <a:ext cx="104700" cy="2310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49" name="Google Shape;149;p18"/>
          <p:cNvSpPr txBox="1"/>
          <p:nvPr/>
        </p:nvSpPr>
        <p:spPr>
          <a:xfrm>
            <a:off x="745764" y="3399126"/>
            <a:ext cx="4810200" cy="2310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Boleh:</a:t>
            </a:r>
            <a:r>
              <a:rPr lang="en-US" sz="1500" b="0" i="0" u="none" strike="noStrike" cap="none">
                <a:solidFill>
                  <a:srgbClr val="CCD6F6"/>
                </a:solidFill>
                <a:latin typeface="Inter"/>
                <a:ea typeface="Inter"/>
                <a:cs typeface="Inter"/>
                <a:sym typeface="Inter"/>
              </a:rPr>
              <a:t> insertRear, deleteFront, deleteRear.</a:t>
            </a:r>
            <a:endParaRPr/>
          </a:p>
        </p:txBody>
      </p:sp>
      <p:sp>
        <p:nvSpPr>
          <p:cNvPr id="150" name="Google Shape;150;p18"/>
          <p:cNvSpPr txBox="1"/>
          <p:nvPr/>
        </p:nvSpPr>
        <p:spPr>
          <a:xfrm>
            <a:off x="583623" y="3875160"/>
            <a:ext cx="104700" cy="2310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51" name="Google Shape;151;p18"/>
          <p:cNvSpPr txBox="1"/>
          <p:nvPr/>
        </p:nvSpPr>
        <p:spPr>
          <a:xfrm>
            <a:off x="745764" y="3884901"/>
            <a:ext cx="4810200" cy="2310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Dilarang:</a:t>
            </a:r>
            <a:r>
              <a:rPr lang="en-US" sz="1500" b="0" i="0" u="none" strike="noStrike" cap="none">
                <a:solidFill>
                  <a:srgbClr val="CCD6F6"/>
                </a:solidFill>
                <a:latin typeface="Inter"/>
                <a:ea typeface="Inter"/>
                <a:cs typeface="Inter"/>
                <a:sym typeface="Inter"/>
              </a:rPr>
              <a:t> insertFront.</a:t>
            </a:r>
            <a:endParaRPr/>
          </a:p>
        </p:txBody>
      </p:sp>
      <p:sp>
        <p:nvSpPr>
          <p:cNvPr id="152" name="Google Shape;152;p1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Variasi 1: Input Restricted Deque</a:t>
            </a:r>
            <a:endParaRPr/>
          </a:p>
        </p:txBody>
      </p:sp>
      <p:pic>
        <p:nvPicPr>
          <p:cNvPr id="153" name="Google Shape;153;p18"/>
          <p:cNvPicPr preferRelativeResize="0"/>
          <p:nvPr/>
        </p:nvPicPr>
        <p:blipFill>
          <a:blip r:embed="rId3">
            <a:alphaModFix/>
          </a:blip>
          <a:stretch>
            <a:fillRect/>
          </a:stretch>
        </p:blipFill>
        <p:spPr>
          <a:xfrm>
            <a:off x="6122100" y="2719362"/>
            <a:ext cx="5817600" cy="1590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157"/>
        <p:cNvGrpSpPr/>
        <p:nvPr/>
      </p:nvGrpSpPr>
      <p:grpSpPr>
        <a:xfrm>
          <a:off x="0" y="0"/>
          <a:ext cx="0" cy="0"/>
          <a:chOff x="0" y="0"/>
          <a:chExt cx="0" cy="0"/>
        </a:xfrm>
      </p:grpSpPr>
      <p:sp>
        <p:nvSpPr>
          <p:cNvPr id="158" name="Google Shape;158;p19"/>
          <p:cNvSpPr txBox="1"/>
          <p:nvPr/>
        </p:nvSpPr>
        <p:spPr>
          <a:xfrm>
            <a:off x="571500" y="1454727"/>
            <a:ext cx="5550600" cy="2772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800" b="0" i="0" u="none" strike="noStrike" cap="none">
                <a:solidFill>
                  <a:srgbClr val="EF4444"/>
                </a:solidFill>
                <a:latin typeface="Poppins SemiBold"/>
                <a:ea typeface="Poppins SemiBold"/>
                <a:cs typeface="Poppins SemiBold"/>
                <a:sym typeface="Poppins SemiBold"/>
              </a:rPr>
              <a:t>Pembatasan Akses Keluar</a:t>
            </a:r>
            <a:endParaRPr/>
          </a:p>
        </p:txBody>
      </p:sp>
      <p:sp>
        <p:nvSpPr>
          <p:cNvPr id="159" name="Google Shape;159;p19"/>
          <p:cNvSpPr txBox="1"/>
          <p:nvPr/>
        </p:nvSpPr>
        <p:spPr>
          <a:xfrm>
            <a:off x="571500" y="1930977"/>
            <a:ext cx="5286300" cy="13392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Sebaliknya, pada variasi ini, proses </a:t>
            </a:r>
            <a:r>
              <a:rPr lang="en-US" sz="1500" b="1" i="0" u="none" strike="noStrike" cap="none">
                <a:solidFill>
                  <a:srgbClr val="8892B0"/>
                </a:solidFill>
                <a:latin typeface="Inter"/>
                <a:ea typeface="Inter"/>
                <a:cs typeface="Inter"/>
                <a:sym typeface="Inter"/>
              </a:rPr>
              <a:t>Penghapusan (Deletion) dibatasi hanya pada satu sisi</a:t>
            </a:r>
            <a:r>
              <a:rPr lang="en-US" sz="1500" b="0" i="0" u="none" strike="noStrike" cap="none">
                <a:solidFill>
                  <a:srgbClr val="8892B0"/>
                </a:solidFill>
                <a:latin typeface="Inter"/>
                <a:ea typeface="Inter"/>
                <a:cs typeface="Inter"/>
                <a:sym typeface="Inter"/>
              </a:rPr>
              <a:t> (biasanya Front), sedangkan proses Penyisipan (Insertion) diizinkan di kedua sisi.</a:t>
            </a:r>
            <a:endParaRPr/>
          </a:p>
        </p:txBody>
      </p:sp>
      <p:sp>
        <p:nvSpPr>
          <p:cNvPr id="160" name="Google Shape;160;p19"/>
          <p:cNvSpPr txBox="1"/>
          <p:nvPr/>
        </p:nvSpPr>
        <p:spPr>
          <a:xfrm>
            <a:off x="571500" y="4455102"/>
            <a:ext cx="5286300" cy="13392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FFD700"/>
                </a:solidFill>
                <a:latin typeface="Inter"/>
                <a:ea typeface="Inter"/>
                <a:cs typeface="Inter"/>
                <a:sym typeface="Inter"/>
              </a:rPr>
              <a:t>Guna: Sistem antrean di mana entitas VIP diizinkan menyela masuk langsung ke posisi paling depan (Front), namun jalur penyelesaian masalah tetap murni dari depan ke belakang.</a:t>
            </a:r>
            <a:endParaRPr/>
          </a:p>
        </p:txBody>
      </p:sp>
      <p:sp>
        <p:nvSpPr>
          <p:cNvPr id="161" name="Google Shape;161;p19"/>
          <p:cNvSpPr txBox="1"/>
          <p:nvPr/>
        </p:nvSpPr>
        <p:spPr>
          <a:xfrm>
            <a:off x="564140" y="3340677"/>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62" name="Google Shape;162;p19"/>
          <p:cNvSpPr txBox="1"/>
          <p:nvPr/>
        </p:nvSpPr>
        <p:spPr>
          <a:xfrm>
            <a:off x="697057" y="3350419"/>
            <a:ext cx="4810200" cy="2310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Boleh:</a:t>
            </a:r>
            <a:r>
              <a:rPr lang="en-US" sz="1500" b="0" i="0" u="none" strike="noStrike" cap="none">
                <a:solidFill>
                  <a:srgbClr val="CCD6F6"/>
                </a:solidFill>
                <a:latin typeface="Inter"/>
                <a:ea typeface="Inter"/>
                <a:cs typeface="Inter"/>
                <a:sym typeface="Inter"/>
              </a:rPr>
              <a:t> insertFront, insertRear, deleteFront.</a:t>
            </a:r>
            <a:endParaRPr/>
          </a:p>
        </p:txBody>
      </p:sp>
      <p:sp>
        <p:nvSpPr>
          <p:cNvPr id="163" name="Google Shape;163;p19"/>
          <p:cNvSpPr txBox="1"/>
          <p:nvPr/>
        </p:nvSpPr>
        <p:spPr>
          <a:xfrm>
            <a:off x="564140" y="3826452"/>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64" name="Google Shape;164;p19"/>
          <p:cNvSpPr txBox="1"/>
          <p:nvPr/>
        </p:nvSpPr>
        <p:spPr>
          <a:xfrm>
            <a:off x="697057" y="3836194"/>
            <a:ext cx="4810200" cy="2310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Dilarang:</a:t>
            </a:r>
            <a:r>
              <a:rPr lang="en-US" sz="1500" b="0" i="0" u="none" strike="noStrike" cap="none">
                <a:solidFill>
                  <a:srgbClr val="CCD6F6"/>
                </a:solidFill>
                <a:latin typeface="Inter"/>
                <a:ea typeface="Inter"/>
                <a:cs typeface="Inter"/>
                <a:sym typeface="Inter"/>
              </a:rPr>
              <a:t> deleteRear.</a:t>
            </a:r>
            <a:endParaRPr/>
          </a:p>
        </p:txBody>
      </p:sp>
      <p:sp>
        <p:nvSpPr>
          <p:cNvPr id="165" name="Google Shape;165;p19"/>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Variasi 2: Output Restricted Deque</a:t>
            </a:r>
            <a:endParaRPr/>
          </a:p>
        </p:txBody>
      </p:sp>
      <p:pic>
        <p:nvPicPr>
          <p:cNvPr id="166" name="Google Shape;166;p19"/>
          <p:cNvPicPr preferRelativeResize="0"/>
          <p:nvPr/>
        </p:nvPicPr>
        <p:blipFill>
          <a:blip r:embed="rId3">
            <a:alphaModFix/>
          </a:blip>
          <a:stretch>
            <a:fillRect/>
          </a:stretch>
        </p:blipFill>
        <p:spPr>
          <a:xfrm>
            <a:off x="6216050" y="3018250"/>
            <a:ext cx="5438775" cy="1866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170"/>
        <p:cNvGrpSpPr/>
        <p:nvPr/>
      </p:nvGrpSpPr>
      <p:grpSpPr>
        <a:xfrm>
          <a:off x="0" y="0"/>
          <a:ext cx="0" cy="0"/>
          <a:chOff x="0" y="0"/>
          <a:chExt cx="0" cy="0"/>
        </a:xfrm>
      </p:grpSpPr>
      <p:pic>
        <p:nvPicPr>
          <p:cNvPr id="171" name="Google Shape;171;p20" descr="image.png"/>
          <p:cNvPicPr preferRelativeResize="0"/>
          <p:nvPr/>
        </p:nvPicPr>
        <p:blipFill rotWithShape="1">
          <a:blip r:embed="rId3">
            <a:alphaModFix/>
          </a:blip>
          <a:srcRect/>
          <a:stretch/>
        </p:blipFill>
        <p:spPr>
          <a:xfrm>
            <a:off x="571500" y="1328088"/>
            <a:ext cx="5286375" cy="4672650"/>
          </a:xfrm>
          <a:prstGeom prst="rect">
            <a:avLst/>
          </a:prstGeom>
          <a:noFill/>
          <a:ln>
            <a:noFill/>
          </a:ln>
        </p:spPr>
      </p:pic>
      <p:pic>
        <p:nvPicPr>
          <p:cNvPr id="172" name="Google Shape;172;p20" descr="image.png"/>
          <p:cNvPicPr preferRelativeResize="0"/>
          <p:nvPr/>
        </p:nvPicPr>
        <p:blipFill rotWithShape="1">
          <a:blip r:embed="rId4">
            <a:alphaModFix/>
          </a:blip>
          <a:srcRect/>
          <a:stretch/>
        </p:blipFill>
        <p:spPr>
          <a:xfrm>
            <a:off x="6334125" y="1328088"/>
            <a:ext cx="5286375" cy="4672650"/>
          </a:xfrm>
          <a:prstGeom prst="rect">
            <a:avLst/>
          </a:prstGeom>
          <a:noFill/>
          <a:ln>
            <a:noFill/>
          </a:ln>
        </p:spPr>
      </p:pic>
      <p:sp>
        <p:nvSpPr>
          <p:cNvPr id="173" name="Google Shape;173;p20"/>
          <p:cNvSpPr txBox="1"/>
          <p:nvPr/>
        </p:nvSpPr>
        <p:spPr>
          <a:xfrm>
            <a:off x="1117889" y="1728355"/>
            <a:ext cx="4730700" cy="323100"/>
          </a:xfrm>
          <a:prstGeom prst="rect">
            <a:avLst/>
          </a:prstGeom>
          <a:noFill/>
          <a:ln>
            <a:noFill/>
          </a:ln>
        </p:spPr>
        <p:txBody>
          <a:bodyPr spcFirstLastPara="1" wrap="square" lIns="304800" tIns="0" rIns="0" bIns="0" anchor="t" anchorCtr="0">
            <a:spAutoFit/>
          </a:bodyPr>
          <a:lstStyle/>
          <a:p>
            <a:pPr marL="0" marR="0" lvl="0" indent="0" algn="l" rtl="0">
              <a:spcBef>
                <a:spcPts val="0"/>
              </a:spcBef>
              <a:spcAft>
                <a:spcPts val="0"/>
              </a:spcAft>
              <a:buNone/>
            </a:pPr>
            <a:r>
              <a:rPr lang="en-US" sz="2100" b="0" i="0" u="none" strike="noStrike" cap="none">
                <a:solidFill>
                  <a:srgbClr val="64FFDA"/>
                </a:solidFill>
                <a:latin typeface="Poppins SemiBold"/>
                <a:ea typeface="Poppins SemiBold"/>
                <a:cs typeface="Poppins SemiBold"/>
                <a:sym typeface="Poppins SemiBold"/>
              </a:rPr>
              <a:t>Menggunakan Circular Array</a:t>
            </a:r>
            <a:endParaRPr/>
          </a:p>
        </p:txBody>
      </p:sp>
      <p:sp>
        <p:nvSpPr>
          <p:cNvPr id="174" name="Google Shape;174;p20"/>
          <p:cNvSpPr txBox="1"/>
          <p:nvPr/>
        </p:nvSpPr>
        <p:spPr>
          <a:xfrm>
            <a:off x="961988" y="2804463"/>
            <a:ext cx="4505400" cy="20781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Implementasi linear array murni akan bermasalah karena pointer front akan mentok di indeks 0 dan tidak bisa mundur untuk insertFront. Solusi utamanya adalah menggunakan algoritma </a:t>
            </a:r>
            <a:r>
              <a:rPr lang="en-US" sz="1500" b="1" i="0" u="none" strike="noStrike" cap="none">
                <a:solidFill>
                  <a:srgbClr val="8892B0"/>
                </a:solidFill>
                <a:latin typeface="Inter"/>
                <a:ea typeface="Inter"/>
                <a:cs typeface="Inter"/>
                <a:sym typeface="Inter"/>
              </a:rPr>
              <a:t>Circular Array</a:t>
            </a:r>
            <a:r>
              <a:rPr lang="en-US" sz="1500" b="0" i="0" u="none" strike="noStrike" cap="none">
                <a:solidFill>
                  <a:srgbClr val="8892B0"/>
                </a:solidFill>
                <a:latin typeface="Inter"/>
                <a:ea typeface="Inter"/>
                <a:cs typeface="Inter"/>
                <a:sym typeface="Inter"/>
              </a:rPr>
              <a:t> di mana jika front = 0, ia akan membungkus (wrap-around) ke indeks N-1.</a:t>
            </a:r>
            <a:endParaRPr/>
          </a:p>
        </p:txBody>
      </p:sp>
      <p:sp>
        <p:nvSpPr>
          <p:cNvPr id="175" name="Google Shape;175;p20"/>
          <p:cNvSpPr txBox="1"/>
          <p:nvPr/>
        </p:nvSpPr>
        <p:spPr>
          <a:xfrm>
            <a:off x="6899997" y="1718613"/>
            <a:ext cx="4730700" cy="646500"/>
          </a:xfrm>
          <a:prstGeom prst="rect">
            <a:avLst/>
          </a:prstGeom>
          <a:noFill/>
          <a:ln>
            <a:noFill/>
          </a:ln>
        </p:spPr>
        <p:txBody>
          <a:bodyPr spcFirstLastPara="1" wrap="square" lIns="333375" tIns="0" rIns="0" bIns="0" anchor="t" anchorCtr="0">
            <a:spAutoFit/>
          </a:bodyPr>
          <a:lstStyle/>
          <a:p>
            <a:pPr marL="0" marR="0" lvl="0" indent="0" algn="l" rtl="0">
              <a:spcBef>
                <a:spcPts val="0"/>
              </a:spcBef>
              <a:spcAft>
                <a:spcPts val="0"/>
              </a:spcAft>
              <a:buNone/>
            </a:pPr>
            <a:r>
              <a:rPr lang="en-US" sz="2100" b="0" i="0" u="none" strike="noStrike" cap="none">
                <a:solidFill>
                  <a:srgbClr val="FFD700"/>
                </a:solidFill>
                <a:latin typeface="Poppins SemiBold"/>
                <a:ea typeface="Poppins SemiBold"/>
                <a:cs typeface="Poppins SemiBold"/>
                <a:sym typeface="Poppins SemiBold"/>
              </a:rPr>
              <a:t>Menggunakan Doubly Linked List</a:t>
            </a:r>
            <a:endParaRPr/>
          </a:p>
        </p:txBody>
      </p:sp>
      <p:sp>
        <p:nvSpPr>
          <p:cNvPr id="176" name="Google Shape;176;p20"/>
          <p:cNvSpPr txBox="1"/>
          <p:nvPr/>
        </p:nvSpPr>
        <p:spPr>
          <a:xfrm>
            <a:off x="6724650" y="2804463"/>
            <a:ext cx="4505400" cy="20781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Ini adalah implementasi </a:t>
            </a:r>
            <a:r>
              <a:rPr lang="en-US" sz="1500" b="1" i="0" u="none" strike="noStrike" cap="none">
                <a:solidFill>
                  <a:srgbClr val="8892B0"/>
                </a:solidFill>
                <a:latin typeface="Inter"/>
                <a:ea typeface="Inter"/>
                <a:cs typeface="Inter"/>
                <a:sym typeface="Inter"/>
              </a:rPr>
              <a:t>paling alami dan efisien</a:t>
            </a:r>
            <a:r>
              <a:rPr lang="en-US" sz="1500" b="0" i="0" u="none" strike="noStrike" cap="none">
                <a:solidFill>
                  <a:srgbClr val="8892B0"/>
                </a:solidFill>
                <a:latin typeface="Inter"/>
                <a:ea typeface="Inter"/>
                <a:cs typeface="Inter"/>
                <a:sym typeface="Inter"/>
              </a:rPr>
              <a:t> untuk Deque. Karena setiap Node memiliki pointer prev dan next, penambahan atau penghapusan elemen di ujung manapun dapat dieksekusi dengan kompleksitas </a:t>
            </a:r>
            <a:r>
              <a:rPr lang="en-US" sz="1500" b="1" i="0" u="none" strike="noStrike" cap="none">
                <a:solidFill>
                  <a:srgbClr val="8892B0"/>
                </a:solidFill>
                <a:latin typeface="Inter"/>
                <a:ea typeface="Inter"/>
                <a:cs typeface="Inter"/>
                <a:sym typeface="Inter"/>
              </a:rPr>
              <a:t> </a:t>
            </a:r>
            <a:r>
              <a:rPr lang="en-US" sz="1500" b="0" i="0" u="none" strike="noStrike" cap="none">
                <a:solidFill>
                  <a:srgbClr val="8892B0"/>
                </a:solidFill>
                <a:latin typeface="Inter"/>
                <a:ea typeface="Inter"/>
                <a:cs typeface="Inter"/>
                <a:sym typeface="Inter"/>
              </a:rPr>
              <a:t> tanpa perlu menggeser elemen lain.</a:t>
            </a:r>
            <a:endParaRPr/>
          </a:p>
        </p:txBody>
      </p:sp>
      <p:pic>
        <p:nvPicPr>
          <p:cNvPr id="177" name="Google Shape;177;p20" descr="image.png"/>
          <p:cNvPicPr preferRelativeResize="0"/>
          <p:nvPr/>
        </p:nvPicPr>
        <p:blipFill rotWithShape="1">
          <a:blip r:embed="rId5">
            <a:alphaModFix/>
          </a:blip>
          <a:srcRect/>
          <a:stretch/>
        </p:blipFill>
        <p:spPr>
          <a:xfrm>
            <a:off x="962025" y="1775763"/>
            <a:ext cx="304800" cy="266700"/>
          </a:xfrm>
          <a:prstGeom prst="rect">
            <a:avLst/>
          </a:prstGeom>
          <a:noFill/>
          <a:ln>
            <a:noFill/>
          </a:ln>
        </p:spPr>
      </p:pic>
      <p:pic>
        <p:nvPicPr>
          <p:cNvPr id="178" name="Google Shape;178;p20" descr="image.png"/>
          <p:cNvPicPr preferRelativeResize="0"/>
          <p:nvPr/>
        </p:nvPicPr>
        <p:blipFill rotWithShape="1">
          <a:blip r:embed="rId6">
            <a:alphaModFix/>
          </a:blip>
          <a:srcRect/>
          <a:stretch/>
        </p:blipFill>
        <p:spPr>
          <a:xfrm>
            <a:off x="6724650" y="1775763"/>
            <a:ext cx="333375" cy="266700"/>
          </a:xfrm>
          <a:prstGeom prst="rect">
            <a:avLst/>
          </a:prstGeom>
          <a:noFill/>
          <a:ln>
            <a:noFill/>
          </a:ln>
        </p:spPr>
      </p:pic>
      <p:pic>
        <p:nvPicPr>
          <p:cNvPr id="179" name="Google Shape;179;p20" descr="image.png"/>
          <p:cNvPicPr preferRelativeResize="0"/>
          <p:nvPr/>
        </p:nvPicPr>
        <p:blipFill rotWithShape="1">
          <a:blip r:embed="rId7">
            <a:alphaModFix/>
          </a:blip>
          <a:srcRect/>
          <a:stretch/>
        </p:blipFill>
        <p:spPr>
          <a:xfrm>
            <a:off x="9744075" y="4109388"/>
            <a:ext cx="571351" cy="190500"/>
          </a:xfrm>
          <a:prstGeom prst="rect">
            <a:avLst/>
          </a:prstGeom>
          <a:noFill/>
          <a:ln>
            <a:noFill/>
          </a:ln>
        </p:spPr>
      </p:pic>
      <p:sp>
        <p:nvSpPr>
          <p:cNvPr id="180" name="Google Shape;180;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Strategi Implementasi Deque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184"/>
        <p:cNvGrpSpPr/>
        <p:nvPr/>
      </p:nvGrpSpPr>
      <p:grpSpPr>
        <a:xfrm>
          <a:off x="0" y="0"/>
          <a:ext cx="0" cy="0"/>
          <a:chOff x="0" y="0"/>
          <a:chExt cx="0" cy="0"/>
        </a:xfrm>
      </p:grpSpPr>
      <p:pic>
        <p:nvPicPr>
          <p:cNvPr id="185" name="Google Shape;185;p21" descr="image.png"/>
          <p:cNvPicPr preferRelativeResize="0"/>
          <p:nvPr/>
        </p:nvPicPr>
        <p:blipFill rotWithShape="1">
          <a:blip r:embed="rId3">
            <a:alphaModFix/>
          </a:blip>
          <a:srcRect/>
          <a:stretch/>
        </p:blipFill>
        <p:spPr>
          <a:xfrm>
            <a:off x="571500" y="1513175"/>
            <a:ext cx="5286375" cy="4399900"/>
          </a:xfrm>
          <a:prstGeom prst="rect">
            <a:avLst/>
          </a:prstGeom>
          <a:noFill/>
          <a:ln>
            <a:noFill/>
          </a:ln>
        </p:spPr>
      </p:pic>
      <p:pic>
        <p:nvPicPr>
          <p:cNvPr id="186" name="Google Shape;186;p21" descr="image.png"/>
          <p:cNvPicPr preferRelativeResize="0"/>
          <p:nvPr/>
        </p:nvPicPr>
        <p:blipFill rotWithShape="1">
          <a:blip r:embed="rId4">
            <a:alphaModFix/>
          </a:blip>
          <a:srcRect/>
          <a:stretch/>
        </p:blipFill>
        <p:spPr>
          <a:xfrm>
            <a:off x="6334125" y="1513175"/>
            <a:ext cx="5286375" cy="4399900"/>
          </a:xfrm>
          <a:prstGeom prst="rect">
            <a:avLst/>
          </a:prstGeom>
          <a:noFill/>
          <a:ln>
            <a:noFill/>
          </a:ln>
        </p:spPr>
      </p:pic>
      <p:sp>
        <p:nvSpPr>
          <p:cNvPr id="187" name="Google Shape;187;p21"/>
          <p:cNvSpPr txBox="1"/>
          <p:nvPr/>
        </p:nvSpPr>
        <p:spPr>
          <a:xfrm>
            <a:off x="1098406" y="1942666"/>
            <a:ext cx="4730700" cy="323100"/>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0" i="0" u="none" strike="noStrike" cap="none">
                <a:solidFill>
                  <a:srgbClr val="64FFDA"/>
                </a:solidFill>
                <a:latin typeface="Poppins SemiBold"/>
                <a:ea typeface="Poppins SemiBold"/>
                <a:cs typeface="Poppins SemiBold"/>
                <a:sym typeface="Poppins SemiBold"/>
              </a:rPr>
              <a:t>Kelebihan Utama</a:t>
            </a:r>
            <a:endParaRPr/>
          </a:p>
        </p:txBody>
      </p:sp>
      <p:sp>
        <p:nvSpPr>
          <p:cNvPr id="188" name="Google Shape;188;p21"/>
          <p:cNvSpPr txBox="1"/>
          <p:nvPr/>
        </p:nvSpPr>
        <p:spPr>
          <a:xfrm>
            <a:off x="6851289" y="1913441"/>
            <a:ext cx="4730700" cy="323100"/>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0" i="0" u="none" strike="noStrike" cap="none">
                <a:solidFill>
                  <a:srgbClr val="EF4444"/>
                </a:solidFill>
                <a:latin typeface="Poppins SemiBold"/>
                <a:ea typeface="Poppins SemiBold"/>
                <a:cs typeface="Poppins SemiBold"/>
                <a:sym typeface="Poppins SemiBold"/>
              </a:rPr>
              <a:t>Kekurangan Dasar</a:t>
            </a:r>
            <a:endParaRPr/>
          </a:p>
        </p:txBody>
      </p:sp>
      <p:pic>
        <p:nvPicPr>
          <p:cNvPr id="189" name="Google Shape;189;p21" descr="image.png"/>
          <p:cNvPicPr preferRelativeResize="0"/>
          <p:nvPr/>
        </p:nvPicPr>
        <p:blipFill rotWithShape="1">
          <a:blip r:embed="rId5">
            <a:alphaModFix/>
          </a:blip>
          <a:srcRect/>
          <a:stretch/>
        </p:blipFill>
        <p:spPr>
          <a:xfrm>
            <a:off x="962025" y="1960850"/>
            <a:ext cx="266700" cy="266700"/>
          </a:xfrm>
          <a:prstGeom prst="rect">
            <a:avLst/>
          </a:prstGeom>
          <a:noFill/>
          <a:ln>
            <a:noFill/>
          </a:ln>
        </p:spPr>
      </p:pic>
      <p:sp>
        <p:nvSpPr>
          <p:cNvPr id="190" name="Google Shape;190;p21"/>
          <p:cNvSpPr txBox="1"/>
          <p:nvPr/>
        </p:nvSpPr>
        <p:spPr>
          <a:xfrm>
            <a:off x="1042338" y="2627384"/>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91" name="Google Shape;191;p21"/>
          <p:cNvSpPr txBox="1"/>
          <p:nvPr/>
        </p:nvSpPr>
        <p:spPr>
          <a:xfrm>
            <a:off x="1262928" y="2637125"/>
            <a:ext cx="4029000" cy="9234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Fleksibilitas Tertinggi:</a:t>
            </a:r>
            <a:r>
              <a:rPr lang="en-US" sz="1500" b="0" i="0" u="none" strike="noStrike" cap="none">
                <a:solidFill>
                  <a:srgbClr val="CCD6F6"/>
                </a:solidFill>
                <a:latin typeface="Inter"/>
                <a:ea typeface="Inter"/>
                <a:cs typeface="Inter"/>
                <a:sym typeface="Inter"/>
              </a:rPr>
              <a:t> Satu struktur data dapat menggantikan fungsi dari Standard Queue sekaligus Standard Stack.</a:t>
            </a:r>
            <a:endParaRPr/>
          </a:p>
        </p:txBody>
      </p:sp>
      <p:sp>
        <p:nvSpPr>
          <p:cNvPr id="192" name="Google Shape;192;p21"/>
          <p:cNvSpPr txBox="1"/>
          <p:nvPr/>
        </p:nvSpPr>
        <p:spPr>
          <a:xfrm>
            <a:off x="1042338" y="3675134"/>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93" name="Google Shape;193;p21"/>
          <p:cNvSpPr txBox="1"/>
          <p:nvPr/>
        </p:nvSpPr>
        <p:spPr>
          <a:xfrm>
            <a:off x="1262928" y="3684875"/>
            <a:ext cx="4029000" cy="9234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Efisiensi Waktu:</a:t>
            </a:r>
            <a:r>
              <a:rPr lang="en-US" sz="1500" b="0" i="0" u="none" strike="noStrike" cap="none">
                <a:solidFill>
                  <a:srgbClr val="CCD6F6"/>
                </a:solidFill>
                <a:latin typeface="Inter"/>
                <a:ea typeface="Inter"/>
                <a:cs typeface="Inter"/>
                <a:sym typeface="Inter"/>
              </a:rPr>
              <a:t> Seluruh operasi ekstrim di kedua ujung dapat dieksekusi dalam kompleksitas waktu            .</a:t>
            </a:r>
            <a:endParaRPr/>
          </a:p>
        </p:txBody>
      </p:sp>
      <p:pic>
        <p:nvPicPr>
          <p:cNvPr id="194" name="Google Shape;194;p21" descr="image.png"/>
          <p:cNvPicPr preferRelativeResize="0"/>
          <p:nvPr/>
        </p:nvPicPr>
        <p:blipFill rotWithShape="1">
          <a:blip r:embed="rId6">
            <a:alphaModFix/>
          </a:blip>
          <a:srcRect/>
          <a:stretch/>
        </p:blipFill>
        <p:spPr>
          <a:xfrm>
            <a:off x="6724650" y="1960850"/>
            <a:ext cx="266700" cy="266700"/>
          </a:xfrm>
          <a:prstGeom prst="rect">
            <a:avLst/>
          </a:prstGeom>
          <a:noFill/>
          <a:ln>
            <a:noFill/>
          </a:ln>
        </p:spPr>
      </p:pic>
      <p:sp>
        <p:nvSpPr>
          <p:cNvPr id="195" name="Google Shape;195;p21"/>
          <p:cNvSpPr txBox="1"/>
          <p:nvPr/>
        </p:nvSpPr>
        <p:spPr>
          <a:xfrm>
            <a:off x="6785480" y="2637125"/>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96" name="Google Shape;196;p21"/>
          <p:cNvSpPr txBox="1"/>
          <p:nvPr/>
        </p:nvSpPr>
        <p:spPr>
          <a:xfrm>
            <a:off x="7025553" y="2637125"/>
            <a:ext cx="4029000" cy="12699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Kompleksitas Kode:</a:t>
            </a:r>
            <a:r>
              <a:rPr lang="en-US" sz="1500" b="0" i="0" u="none" strike="noStrike" cap="none">
                <a:solidFill>
                  <a:srgbClr val="CCD6F6"/>
                </a:solidFill>
                <a:latin typeface="Inter"/>
                <a:ea typeface="Inter"/>
                <a:cs typeface="Inter"/>
                <a:sym typeface="Inter"/>
              </a:rPr>
              <a:t> Pemrograman algoritma (terutama pengelolaan batas indeks di Circular Array) jauh lebih rumit dan rentan terhadap </a:t>
            </a:r>
            <a:r>
              <a:rPr lang="en-US" sz="1500" b="0" i="1" u="none" strike="noStrike" cap="none">
                <a:solidFill>
                  <a:srgbClr val="CCD6F6"/>
                </a:solidFill>
                <a:latin typeface="Inter"/>
                <a:ea typeface="Inter"/>
                <a:cs typeface="Inter"/>
                <a:sym typeface="Inter"/>
              </a:rPr>
              <a:t>pointer bug</a:t>
            </a:r>
            <a:r>
              <a:rPr lang="en-US" sz="1500" b="0" i="0" u="none" strike="noStrike" cap="none">
                <a:solidFill>
                  <a:srgbClr val="CCD6F6"/>
                </a:solidFill>
                <a:latin typeface="Inter"/>
                <a:ea typeface="Inter"/>
                <a:cs typeface="Inter"/>
                <a:sym typeface="Inter"/>
              </a:rPr>
              <a:t>.</a:t>
            </a:r>
            <a:endParaRPr/>
          </a:p>
        </p:txBody>
      </p:sp>
      <p:sp>
        <p:nvSpPr>
          <p:cNvPr id="197" name="Google Shape;197;p21"/>
          <p:cNvSpPr txBox="1"/>
          <p:nvPr/>
        </p:nvSpPr>
        <p:spPr>
          <a:xfrm>
            <a:off x="6785480" y="3970625"/>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198" name="Google Shape;198;p21"/>
          <p:cNvSpPr txBox="1"/>
          <p:nvPr/>
        </p:nvSpPr>
        <p:spPr>
          <a:xfrm>
            <a:off x="7025553" y="3970625"/>
            <a:ext cx="4029000" cy="12699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Memori Tambahan:</a:t>
            </a:r>
            <a:r>
              <a:rPr lang="en-US" sz="1500" b="0" i="0" u="none" strike="noStrike" cap="none">
                <a:solidFill>
                  <a:srgbClr val="CCD6F6"/>
                </a:solidFill>
                <a:latin typeface="Inter"/>
                <a:ea typeface="Inter"/>
                <a:cs typeface="Inter"/>
                <a:sym typeface="Inter"/>
              </a:rPr>
              <a:t> Jika menggunakan Doubly Linked List, butuh alokasi memori tambahan yang signifikan untuk menyimpan dua alamat </a:t>
            </a:r>
            <a:r>
              <a:rPr lang="en-US" sz="1500" b="0" i="1" u="none" strike="noStrike" cap="none">
                <a:solidFill>
                  <a:srgbClr val="CCD6F6"/>
                </a:solidFill>
                <a:latin typeface="Inter"/>
                <a:ea typeface="Inter"/>
                <a:cs typeface="Inter"/>
                <a:sym typeface="Inter"/>
              </a:rPr>
              <a:t>pointer</a:t>
            </a:r>
            <a:r>
              <a:rPr lang="en-US" sz="1500" b="0" i="0" u="none" strike="noStrike" cap="none">
                <a:solidFill>
                  <a:srgbClr val="CCD6F6"/>
                </a:solidFill>
                <a:latin typeface="Inter"/>
                <a:ea typeface="Inter"/>
                <a:cs typeface="Inter"/>
                <a:sym typeface="Inter"/>
              </a:rPr>
              <a:t> per Node.</a:t>
            </a:r>
            <a:endParaRPr/>
          </a:p>
        </p:txBody>
      </p:sp>
      <p:sp>
        <p:nvSpPr>
          <p:cNvPr id="199" name="Google Shape;199;p21"/>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Evaluasi Kinerja &amp; Karakteristik Deque</a:t>
            </a:r>
            <a:endParaRPr/>
          </a:p>
        </p:txBody>
      </p:sp>
      <p:pic>
        <p:nvPicPr>
          <p:cNvPr id="200" name="Google Shape;200;p21" descr="image.png"/>
          <p:cNvPicPr preferRelativeResize="0"/>
          <p:nvPr/>
        </p:nvPicPr>
        <p:blipFill rotWithShape="1">
          <a:blip r:embed="rId7">
            <a:alphaModFix/>
          </a:blip>
          <a:srcRect/>
          <a:stretch/>
        </p:blipFill>
        <p:spPr>
          <a:xfrm>
            <a:off x="3188494" y="4391240"/>
            <a:ext cx="571351" cy="190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04"/>
        <p:cNvGrpSpPr/>
        <p:nvPr/>
      </p:nvGrpSpPr>
      <p:grpSpPr>
        <a:xfrm>
          <a:off x="0" y="0"/>
          <a:ext cx="0" cy="0"/>
          <a:chOff x="0" y="0"/>
          <a:chExt cx="0" cy="0"/>
        </a:xfrm>
      </p:grpSpPr>
      <p:sp>
        <p:nvSpPr>
          <p:cNvPr id="205" name="Google Shape;205;p22"/>
          <p:cNvSpPr txBox="1"/>
          <p:nvPr/>
        </p:nvSpPr>
        <p:spPr>
          <a:xfrm>
            <a:off x="1047750" y="1464469"/>
            <a:ext cx="10572900" cy="1693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2000" b="0" i="0" u="none" strike="noStrike" cap="none">
                <a:solidFill>
                  <a:srgbClr val="64FFDA"/>
                </a:solidFill>
                <a:latin typeface="Inter SemiBold"/>
                <a:ea typeface="Inter SemiBold"/>
                <a:cs typeface="Inter SemiBold"/>
                <a:sym typeface="Inter SemiBold"/>
              </a:rPr>
              <a:t>Sistem Undo/Redo Lanjutan:</a:t>
            </a:r>
            <a:r>
              <a:rPr lang="en-US" sz="2000" b="0" i="0" u="none" strike="noStrike" cap="none">
                <a:solidFill>
                  <a:srgbClr val="CCD6F6"/>
                </a:solidFill>
                <a:latin typeface="Inter"/>
                <a:ea typeface="Inter"/>
                <a:cs typeface="Inter"/>
                <a:sym typeface="Inter"/>
              </a:rPr>
              <a:t> Aplikasi editor grafik (seperti Photoshop) menyimpan daftar aksi riwayat di dalam Deque. Aksi baru masuk di depan (Front). Jika batasan riwayat melebihi kuota (misal maks 50 undo), maka memori aksi tertua akan dibuang dari belakang (Rear) untuk menghemat RAM.</a:t>
            </a:r>
            <a:endParaRPr sz="2000"/>
          </a:p>
        </p:txBody>
      </p:sp>
      <p:sp>
        <p:nvSpPr>
          <p:cNvPr id="206" name="Google Shape;206;p22"/>
          <p:cNvSpPr txBox="1"/>
          <p:nvPr/>
        </p:nvSpPr>
        <p:spPr>
          <a:xfrm>
            <a:off x="1047750" y="3359727"/>
            <a:ext cx="10572900" cy="7695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2000" b="0" i="0" u="none" strike="noStrike" cap="none">
                <a:solidFill>
                  <a:srgbClr val="64FFDA"/>
                </a:solidFill>
                <a:latin typeface="Inter SemiBold"/>
                <a:ea typeface="Inter SemiBold"/>
                <a:cs typeface="Inter SemiBold"/>
                <a:sym typeface="Inter SemiBold"/>
              </a:rPr>
              <a:t>Web Browser History:</a:t>
            </a:r>
            <a:r>
              <a:rPr lang="en-US" sz="2000" b="0" i="0" u="none" strike="noStrike" cap="none">
                <a:solidFill>
                  <a:srgbClr val="CCD6F6"/>
                </a:solidFill>
                <a:latin typeface="Inter"/>
                <a:ea typeface="Inter"/>
                <a:cs typeface="Inter"/>
                <a:sym typeface="Inter"/>
              </a:rPr>
              <a:t> Pengelolaan </a:t>
            </a:r>
            <a:r>
              <a:rPr lang="en-US" sz="2000" b="0" i="1" u="none" strike="noStrike" cap="none">
                <a:solidFill>
                  <a:srgbClr val="CCD6F6"/>
                </a:solidFill>
                <a:latin typeface="Inter"/>
                <a:ea typeface="Inter"/>
                <a:cs typeface="Inter"/>
                <a:sym typeface="Inter"/>
              </a:rPr>
              <a:t>Recently Visited URLs</a:t>
            </a:r>
            <a:r>
              <a:rPr lang="en-US" sz="2000" b="0" i="0" u="none" strike="noStrike" cap="none">
                <a:solidFill>
                  <a:srgbClr val="CCD6F6"/>
                </a:solidFill>
                <a:latin typeface="Inter"/>
                <a:ea typeface="Inter"/>
                <a:cs typeface="Inter"/>
                <a:sym typeface="Inter"/>
              </a:rPr>
              <a:t>, menjaga batasan URL lama dan URL terbaru.</a:t>
            </a:r>
            <a:endParaRPr sz="2000"/>
          </a:p>
        </p:txBody>
      </p:sp>
      <p:sp>
        <p:nvSpPr>
          <p:cNvPr id="207" name="Google Shape;207;p22"/>
          <p:cNvSpPr txBox="1"/>
          <p:nvPr/>
        </p:nvSpPr>
        <p:spPr>
          <a:xfrm>
            <a:off x="1047750" y="4352276"/>
            <a:ext cx="10572900" cy="12315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2000" b="0" i="0" u="none" strike="noStrike" cap="none">
                <a:solidFill>
                  <a:srgbClr val="64FFDA"/>
                </a:solidFill>
                <a:latin typeface="Inter SemiBold"/>
                <a:ea typeface="Inter SemiBold"/>
                <a:cs typeface="Inter SemiBold"/>
                <a:sym typeface="Inter SemiBold"/>
              </a:rPr>
              <a:t>A-Steal Job Scheduling:</a:t>
            </a:r>
            <a:r>
              <a:rPr lang="en-US" sz="2000" b="0" i="0" u="none" strike="noStrike" cap="none">
                <a:solidFill>
                  <a:srgbClr val="CCD6F6"/>
                </a:solidFill>
                <a:latin typeface="Inter"/>
                <a:ea typeface="Inter"/>
                <a:cs typeface="Inter"/>
                <a:sym typeface="Inter"/>
              </a:rPr>
              <a:t> Algoritma pada arsitektur multiprosesor. Jika satu Core CPU menganggur, ia bisa "mencuri" pekerjaan dari ujung belakang (Rear) Deque milik Core lain, mencegah konflik kunci antrean dengan Core asli yang memproses dari Front.</a:t>
            </a:r>
            <a:endParaRPr sz="2000"/>
          </a:p>
        </p:txBody>
      </p:sp>
      <p:pic>
        <p:nvPicPr>
          <p:cNvPr id="208" name="Google Shape;208;p22" descr="image.png"/>
          <p:cNvPicPr preferRelativeResize="0"/>
          <p:nvPr/>
        </p:nvPicPr>
        <p:blipFill rotWithShape="1">
          <a:blip r:embed="rId3">
            <a:alphaModFix/>
          </a:blip>
          <a:srcRect/>
          <a:stretch/>
        </p:blipFill>
        <p:spPr>
          <a:xfrm>
            <a:off x="571500" y="1493044"/>
            <a:ext cx="228600" cy="247650"/>
          </a:xfrm>
          <a:prstGeom prst="rect">
            <a:avLst/>
          </a:prstGeom>
          <a:noFill/>
          <a:ln>
            <a:noFill/>
          </a:ln>
        </p:spPr>
      </p:pic>
      <p:pic>
        <p:nvPicPr>
          <p:cNvPr id="209" name="Google Shape;209;p22" descr="image.png"/>
          <p:cNvPicPr preferRelativeResize="0"/>
          <p:nvPr/>
        </p:nvPicPr>
        <p:blipFill rotWithShape="1">
          <a:blip r:embed="rId4">
            <a:alphaModFix/>
          </a:blip>
          <a:srcRect/>
          <a:stretch/>
        </p:blipFill>
        <p:spPr>
          <a:xfrm>
            <a:off x="571500" y="3428994"/>
            <a:ext cx="228600" cy="247650"/>
          </a:xfrm>
          <a:prstGeom prst="rect">
            <a:avLst/>
          </a:prstGeom>
          <a:noFill/>
          <a:ln>
            <a:noFill/>
          </a:ln>
        </p:spPr>
      </p:pic>
      <p:pic>
        <p:nvPicPr>
          <p:cNvPr id="210" name="Google Shape;210;p22" descr="image.png"/>
          <p:cNvPicPr preferRelativeResize="0"/>
          <p:nvPr/>
        </p:nvPicPr>
        <p:blipFill rotWithShape="1">
          <a:blip r:embed="rId5">
            <a:alphaModFix/>
          </a:blip>
          <a:srcRect/>
          <a:stretch/>
        </p:blipFill>
        <p:spPr>
          <a:xfrm>
            <a:off x="571500" y="4391244"/>
            <a:ext cx="228600" cy="247650"/>
          </a:xfrm>
          <a:prstGeom prst="rect">
            <a:avLst/>
          </a:prstGeom>
          <a:noFill/>
          <a:ln>
            <a:noFill/>
          </a:ln>
        </p:spPr>
      </p:pic>
      <p:sp>
        <p:nvSpPr>
          <p:cNvPr id="211" name="Google Shape;211;p22"/>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Aplikasi Deque di Dunia Nyata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15"/>
        <p:cNvGrpSpPr/>
        <p:nvPr/>
      </p:nvGrpSpPr>
      <p:grpSpPr>
        <a:xfrm>
          <a:off x="0" y="0"/>
          <a:ext cx="0" cy="0"/>
          <a:chOff x="0" y="0"/>
          <a:chExt cx="0" cy="0"/>
        </a:xfrm>
      </p:grpSpPr>
      <p:sp>
        <p:nvSpPr>
          <p:cNvPr id="216" name="Google Shape;216;p23"/>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Implementasi C++ (Library Standard)</a:t>
            </a:r>
            <a:endParaRPr/>
          </a:p>
        </p:txBody>
      </p:sp>
      <p:sp>
        <p:nvSpPr>
          <p:cNvPr id="217" name="Google Shape;217;p23"/>
          <p:cNvSpPr txBox="1"/>
          <p:nvPr/>
        </p:nvSpPr>
        <p:spPr>
          <a:xfrm>
            <a:off x="571500" y="1422250"/>
            <a:ext cx="10991700" cy="4787100"/>
          </a:xfrm>
          <a:prstGeom prst="rect">
            <a:avLst/>
          </a:prstGeom>
          <a:solidFill>
            <a:srgbClr val="020C1B"/>
          </a:solid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1300">
                <a:solidFill>
                  <a:srgbClr val="C678DD"/>
                </a:solidFill>
                <a:highlight>
                  <a:srgbClr val="020C1B"/>
                </a:highlight>
                <a:latin typeface="Fira Code"/>
                <a:ea typeface="Fira Code"/>
                <a:cs typeface="Fira Code"/>
                <a:sym typeface="Fira Code"/>
              </a:rPr>
              <a:t>#include</a:t>
            </a:r>
            <a:r>
              <a:rPr lang="en-US" sz="1300">
                <a:solidFill>
                  <a:srgbClr val="64FFDA"/>
                </a:solidFill>
                <a:highlight>
                  <a:srgbClr val="020C1B"/>
                </a:highlight>
                <a:latin typeface="Fira Code"/>
                <a:ea typeface="Fira Code"/>
                <a:cs typeface="Fira Code"/>
                <a:sym typeface="Fira Code"/>
              </a:rPr>
              <a:t> &lt;iostream&gt;</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C678DD"/>
                </a:solidFill>
                <a:highlight>
                  <a:srgbClr val="020C1B"/>
                </a:highlight>
                <a:latin typeface="Fira Code"/>
                <a:ea typeface="Fira Code"/>
                <a:cs typeface="Fira Code"/>
                <a:sym typeface="Fira Code"/>
              </a:rPr>
              <a:t>#include</a:t>
            </a:r>
            <a:r>
              <a:rPr lang="en-US" sz="1300">
                <a:solidFill>
                  <a:srgbClr val="64FFDA"/>
                </a:solidFill>
                <a:highlight>
                  <a:srgbClr val="020C1B"/>
                </a:highlight>
                <a:latin typeface="Fira Code"/>
                <a:ea typeface="Fira Code"/>
                <a:cs typeface="Fira Code"/>
                <a:sym typeface="Fira Code"/>
              </a:rPr>
              <a:t> &lt;deque&gt; </a:t>
            </a:r>
            <a:r>
              <a:rPr lang="en-US" sz="1300" i="1">
                <a:solidFill>
                  <a:srgbClr val="5C6370"/>
                </a:solidFill>
                <a:highlight>
                  <a:srgbClr val="020C1B"/>
                </a:highlight>
                <a:latin typeface="Fira Code"/>
                <a:ea typeface="Fira Code"/>
                <a:cs typeface="Fira Code"/>
                <a:sym typeface="Fira Code"/>
              </a:rPr>
              <a:t>// Standard Template Library C++ untuk Deque</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C678DD"/>
                </a:solidFill>
                <a:highlight>
                  <a:srgbClr val="020C1B"/>
                </a:highlight>
                <a:latin typeface="Fira Code"/>
                <a:ea typeface="Fira Code"/>
                <a:cs typeface="Fira Code"/>
                <a:sym typeface="Fira Code"/>
              </a:rPr>
              <a:t>using namespace</a:t>
            </a:r>
            <a:r>
              <a:rPr lang="en-US" sz="1300">
                <a:solidFill>
                  <a:srgbClr val="64FFDA"/>
                </a:solidFill>
                <a:highlight>
                  <a:srgbClr val="020C1B"/>
                </a:highlight>
                <a:latin typeface="Fira Code"/>
                <a:ea typeface="Fira Code"/>
                <a:cs typeface="Fira Code"/>
                <a:sym typeface="Fira Code"/>
              </a:rPr>
              <a:t> std;</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E5C07B"/>
                </a:solidFill>
                <a:highlight>
                  <a:srgbClr val="020C1B"/>
                </a:highlight>
                <a:latin typeface="Fira Code"/>
                <a:ea typeface="Fira Code"/>
                <a:cs typeface="Fira Code"/>
                <a:sym typeface="Fira Code"/>
              </a:rPr>
              <a:t>int</a:t>
            </a:r>
            <a:r>
              <a:rPr lang="en-US" sz="1300">
                <a:solidFill>
                  <a:srgbClr val="64FFDA"/>
                </a:solidFill>
                <a:highlight>
                  <a:srgbClr val="020C1B"/>
                </a:highlight>
                <a:latin typeface="Fira Code"/>
                <a:ea typeface="Fira Code"/>
                <a:cs typeface="Fira Code"/>
                <a:sym typeface="Fira Code"/>
              </a:rPr>
              <a:t> main() {</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deque&lt;</a:t>
            </a:r>
            <a:r>
              <a:rPr lang="en-US" sz="1300">
                <a:solidFill>
                  <a:srgbClr val="E5C07B"/>
                </a:solidFill>
                <a:highlight>
                  <a:srgbClr val="020C1B"/>
                </a:highlight>
                <a:latin typeface="Fira Code"/>
                <a:ea typeface="Fira Code"/>
                <a:cs typeface="Fira Code"/>
                <a:sym typeface="Fira Code"/>
              </a:rPr>
              <a:t>int</a:t>
            </a:r>
            <a:r>
              <a:rPr lang="en-US" sz="1300">
                <a:solidFill>
                  <a:srgbClr val="64FFDA"/>
                </a:solidFill>
                <a:highlight>
                  <a:srgbClr val="020C1B"/>
                </a:highlight>
                <a:latin typeface="Fira Code"/>
                <a:ea typeface="Fira Code"/>
                <a:cs typeface="Fira Code"/>
                <a:sym typeface="Fira Code"/>
              </a:rPr>
              <a:t>&gt; dq;</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a:t>
            </a:r>
            <a:r>
              <a:rPr lang="en-US" sz="1300" i="1">
                <a:solidFill>
                  <a:srgbClr val="5C6370"/>
                </a:solidFill>
                <a:highlight>
                  <a:srgbClr val="020C1B"/>
                </a:highlight>
                <a:latin typeface="Fira Code"/>
                <a:ea typeface="Fira Code"/>
                <a:cs typeface="Fira Code"/>
                <a:sym typeface="Fira Code"/>
              </a:rPr>
              <a:t>// Operasi Penyisipan di dua sisi</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dq.push_back(</a:t>
            </a:r>
            <a:r>
              <a:rPr lang="en-US" sz="1300">
                <a:solidFill>
                  <a:srgbClr val="98C379"/>
                </a:solidFill>
                <a:highlight>
                  <a:srgbClr val="020C1B"/>
                </a:highlight>
                <a:latin typeface="Fira Code"/>
                <a:ea typeface="Fira Code"/>
                <a:cs typeface="Fira Code"/>
                <a:sym typeface="Fira Code"/>
              </a:rPr>
              <a:t>10</a:t>
            </a:r>
            <a:r>
              <a:rPr lang="en-US" sz="1300">
                <a:solidFill>
                  <a:srgbClr val="64FFDA"/>
                </a:solidFill>
                <a:highlight>
                  <a:srgbClr val="020C1B"/>
                </a:highlight>
                <a:latin typeface="Fira Code"/>
                <a:ea typeface="Fira Code"/>
                <a:cs typeface="Fira Code"/>
                <a:sym typeface="Fira Code"/>
              </a:rPr>
              <a:t>);     </a:t>
            </a:r>
            <a:r>
              <a:rPr lang="en-US" sz="1300" i="1">
                <a:solidFill>
                  <a:srgbClr val="5C6370"/>
                </a:solidFill>
                <a:highlight>
                  <a:srgbClr val="020C1B"/>
                </a:highlight>
                <a:latin typeface="Fira Code"/>
                <a:ea typeface="Fira Code"/>
                <a:cs typeface="Fira Code"/>
                <a:sym typeface="Fira Code"/>
              </a:rPr>
              <a:t>// dq = [10]</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dq.push_front(</a:t>
            </a:r>
            <a:r>
              <a:rPr lang="en-US" sz="1300">
                <a:solidFill>
                  <a:srgbClr val="98C379"/>
                </a:solidFill>
                <a:highlight>
                  <a:srgbClr val="020C1B"/>
                </a:highlight>
                <a:latin typeface="Fira Code"/>
                <a:ea typeface="Fira Code"/>
                <a:cs typeface="Fira Code"/>
                <a:sym typeface="Fira Code"/>
              </a:rPr>
              <a:t>20</a:t>
            </a:r>
            <a:r>
              <a:rPr lang="en-US" sz="1300">
                <a:solidFill>
                  <a:srgbClr val="64FFDA"/>
                </a:solidFill>
                <a:highlight>
                  <a:srgbClr val="020C1B"/>
                </a:highlight>
                <a:latin typeface="Fira Code"/>
                <a:ea typeface="Fira Code"/>
                <a:cs typeface="Fira Code"/>
                <a:sym typeface="Fira Code"/>
              </a:rPr>
              <a:t>);    </a:t>
            </a:r>
            <a:r>
              <a:rPr lang="en-US" sz="1300" i="1">
                <a:solidFill>
                  <a:srgbClr val="5C6370"/>
                </a:solidFill>
                <a:highlight>
                  <a:srgbClr val="020C1B"/>
                </a:highlight>
                <a:latin typeface="Fira Code"/>
                <a:ea typeface="Fira Code"/>
                <a:cs typeface="Fira Code"/>
                <a:sym typeface="Fira Code"/>
              </a:rPr>
              <a:t>// dq = [20, 10]</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dq.push_back(</a:t>
            </a:r>
            <a:r>
              <a:rPr lang="en-US" sz="1300">
                <a:solidFill>
                  <a:srgbClr val="98C379"/>
                </a:solidFill>
                <a:highlight>
                  <a:srgbClr val="020C1B"/>
                </a:highlight>
                <a:latin typeface="Fira Code"/>
                <a:ea typeface="Fira Code"/>
                <a:cs typeface="Fira Code"/>
                <a:sym typeface="Fira Code"/>
              </a:rPr>
              <a:t>30</a:t>
            </a:r>
            <a:r>
              <a:rPr lang="en-US" sz="1300">
                <a:solidFill>
                  <a:srgbClr val="64FFDA"/>
                </a:solidFill>
                <a:highlight>
                  <a:srgbClr val="020C1B"/>
                </a:highlight>
                <a:latin typeface="Fira Code"/>
                <a:ea typeface="Fira Code"/>
                <a:cs typeface="Fira Code"/>
                <a:sym typeface="Fira Code"/>
              </a:rPr>
              <a:t>);     </a:t>
            </a:r>
            <a:r>
              <a:rPr lang="en-US" sz="1300" i="1">
                <a:solidFill>
                  <a:srgbClr val="5C6370"/>
                </a:solidFill>
                <a:highlight>
                  <a:srgbClr val="020C1B"/>
                </a:highlight>
                <a:latin typeface="Fira Code"/>
                <a:ea typeface="Fira Code"/>
                <a:cs typeface="Fira Code"/>
                <a:sym typeface="Fira Code"/>
              </a:rPr>
              <a:t>// dq = [20, 10, 30]</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dq.push_front(</a:t>
            </a:r>
            <a:r>
              <a:rPr lang="en-US" sz="1300">
                <a:solidFill>
                  <a:srgbClr val="98C379"/>
                </a:solidFill>
                <a:highlight>
                  <a:srgbClr val="020C1B"/>
                </a:highlight>
                <a:latin typeface="Fira Code"/>
                <a:ea typeface="Fira Code"/>
                <a:cs typeface="Fira Code"/>
                <a:sym typeface="Fira Code"/>
              </a:rPr>
              <a:t>15</a:t>
            </a:r>
            <a:r>
              <a:rPr lang="en-US" sz="1300">
                <a:solidFill>
                  <a:srgbClr val="64FFDA"/>
                </a:solidFill>
                <a:highlight>
                  <a:srgbClr val="020C1B"/>
                </a:highlight>
                <a:latin typeface="Fira Code"/>
                <a:ea typeface="Fira Code"/>
                <a:cs typeface="Fira Code"/>
                <a:sym typeface="Fira Code"/>
              </a:rPr>
              <a:t>);    </a:t>
            </a:r>
            <a:r>
              <a:rPr lang="en-US" sz="1300" i="1">
                <a:solidFill>
                  <a:srgbClr val="5C6370"/>
                </a:solidFill>
                <a:highlight>
                  <a:srgbClr val="020C1B"/>
                </a:highlight>
                <a:latin typeface="Fira Code"/>
                <a:ea typeface="Fira Code"/>
                <a:cs typeface="Fira Code"/>
                <a:sym typeface="Fira Code"/>
              </a:rPr>
              <a:t>// dq = [15, 20, 10, 30]</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a:t>
            </a:r>
            <a:r>
              <a:rPr lang="en-US" sz="1300" i="1">
                <a:solidFill>
                  <a:srgbClr val="5C6370"/>
                </a:solidFill>
                <a:highlight>
                  <a:srgbClr val="020C1B"/>
                </a:highlight>
                <a:latin typeface="Fira Code"/>
                <a:ea typeface="Fira Code"/>
                <a:cs typeface="Fira Code"/>
                <a:sym typeface="Fira Code"/>
              </a:rPr>
              <a:t>// Menampilkan ukuran logis</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a:t>
            </a:r>
            <a:r>
              <a:rPr lang="en-US" sz="1300">
                <a:solidFill>
                  <a:srgbClr val="C678DD"/>
                </a:solidFill>
                <a:highlight>
                  <a:srgbClr val="020C1B"/>
                </a:highlight>
                <a:latin typeface="Fira Code"/>
                <a:ea typeface="Fira Code"/>
                <a:cs typeface="Fira Code"/>
                <a:sym typeface="Fira Code"/>
              </a:rPr>
              <a:t>cout</a:t>
            </a:r>
            <a:r>
              <a:rPr lang="en-US" sz="1300">
                <a:solidFill>
                  <a:srgbClr val="64FFDA"/>
                </a:solidFill>
                <a:highlight>
                  <a:srgbClr val="020C1B"/>
                </a:highlight>
                <a:latin typeface="Fira Code"/>
                <a:ea typeface="Fira Code"/>
                <a:cs typeface="Fira Code"/>
                <a:sym typeface="Fira Code"/>
              </a:rPr>
              <a:t> &lt;&lt; "Ukuran Deque: " &lt;&lt; dq.size() &lt;&lt; endl;</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a:t>
            </a:r>
            <a:r>
              <a:rPr lang="en-US" sz="1300" i="1">
                <a:solidFill>
                  <a:srgbClr val="5C6370"/>
                </a:solidFill>
                <a:highlight>
                  <a:srgbClr val="020C1B"/>
                </a:highlight>
                <a:latin typeface="Fira Code"/>
                <a:ea typeface="Fira Code"/>
                <a:cs typeface="Fira Code"/>
                <a:sym typeface="Fira Code"/>
              </a:rPr>
              <a:t>// Operasi Penghapusan di dua sisi</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dq.pop_front();       </a:t>
            </a:r>
            <a:r>
              <a:rPr lang="en-US" sz="1300" i="1">
                <a:solidFill>
                  <a:srgbClr val="5C6370"/>
                </a:solidFill>
                <a:highlight>
                  <a:srgbClr val="020C1B"/>
                </a:highlight>
                <a:latin typeface="Fira Code"/>
                <a:ea typeface="Fira Code"/>
                <a:cs typeface="Fira Code"/>
                <a:sym typeface="Fira Code"/>
              </a:rPr>
              <a:t>// Hapus 15. Sisa: [20, 10, 30]</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dq.pop_back();        </a:t>
            </a:r>
            <a:r>
              <a:rPr lang="en-US" sz="1300" i="1">
                <a:solidFill>
                  <a:srgbClr val="5C6370"/>
                </a:solidFill>
                <a:highlight>
                  <a:srgbClr val="020C1B"/>
                </a:highlight>
                <a:latin typeface="Fira Code"/>
                <a:ea typeface="Fira Code"/>
                <a:cs typeface="Fira Code"/>
                <a:sym typeface="Fira Code"/>
              </a:rPr>
              <a:t>// Hapus 30. Sisa: [20, 10]</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a:t>
            </a:r>
            <a:r>
              <a:rPr lang="en-US" sz="1300">
                <a:solidFill>
                  <a:srgbClr val="C678DD"/>
                </a:solidFill>
                <a:highlight>
                  <a:srgbClr val="020C1B"/>
                </a:highlight>
                <a:latin typeface="Fira Code"/>
                <a:ea typeface="Fira Code"/>
                <a:cs typeface="Fira Code"/>
                <a:sym typeface="Fira Code"/>
              </a:rPr>
              <a:t>cout</a:t>
            </a:r>
            <a:r>
              <a:rPr lang="en-US" sz="1300">
                <a:solidFill>
                  <a:srgbClr val="64FFDA"/>
                </a:solidFill>
                <a:highlight>
                  <a:srgbClr val="020C1B"/>
                </a:highlight>
                <a:latin typeface="Fira Code"/>
                <a:ea typeface="Fira Code"/>
                <a:cs typeface="Fira Code"/>
                <a:sym typeface="Fira Code"/>
              </a:rPr>
              <a:t> &lt;&lt; "Front: " &lt;&lt; dq.front() &lt;&lt; " | Rear: " &lt;&lt; dq.back() &lt;&lt; endl;</a:t>
            </a:r>
            <a:endParaRPr sz="1300">
              <a:solidFill>
                <a:srgbClr val="64FFDA"/>
              </a:solidFill>
              <a:highlight>
                <a:srgbClr val="020C1B"/>
              </a:highlight>
              <a:latin typeface="Fira Code"/>
              <a:ea typeface="Fira Code"/>
              <a:cs typeface="Fira Code"/>
              <a:sym typeface="Fira Code"/>
            </a:endParaRPr>
          </a:p>
          <a:p>
            <a:pPr marL="0" lvl="0" indent="0" algn="just" rtl="0">
              <a:spcBef>
                <a:spcPts val="0"/>
              </a:spcBef>
              <a:spcAft>
                <a:spcPts val="0"/>
              </a:spcAft>
              <a:buNone/>
            </a:pPr>
            <a:r>
              <a:rPr lang="en-US" sz="1300">
                <a:solidFill>
                  <a:srgbClr val="64FFDA"/>
                </a:solidFill>
                <a:highlight>
                  <a:srgbClr val="020C1B"/>
                </a:highlight>
                <a:latin typeface="Fira Code"/>
                <a:ea typeface="Fira Code"/>
                <a:cs typeface="Fira Code"/>
                <a:sym typeface="Fira Code"/>
              </a:rPr>
              <a:t>    </a:t>
            </a:r>
            <a:r>
              <a:rPr lang="en-US" sz="1300">
                <a:solidFill>
                  <a:srgbClr val="C678DD"/>
                </a:solidFill>
                <a:highlight>
                  <a:srgbClr val="020C1B"/>
                </a:highlight>
                <a:latin typeface="Fira Code"/>
                <a:ea typeface="Fira Code"/>
                <a:cs typeface="Fira Code"/>
                <a:sym typeface="Fira Code"/>
              </a:rPr>
              <a:t>return</a:t>
            </a:r>
            <a:r>
              <a:rPr lang="en-US" sz="1300">
                <a:solidFill>
                  <a:srgbClr val="64FFDA"/>
                </a:solidFill>
                <a:highlight>
                  <a:srgbClr val="020C1B"/>
                </a:highlight>
                <a:latin typeface="Fira Code"/>
                <a:ea typeface="Fira Code"/>
                <a:cs typeface="Fira Code"/>
                <a:sym typeface="Fira Code"/>
              </a:rPr>
              <a:t> </a:t>
            </a:r>
            <a:r>
              <a:rPr lang="en-US" sz="1300">
                <a:solidFill>
                  <a:srgbClr val="98C379"/>
                </a:solidFill>
                <a:highlight>
                  <a:srgbClr val="020C1B"/>
                </a:highlight>
                <a:latin typeface="Fira Code"/>
                <a:ea typeface="Fira Code"/>
                <a:cs typeface="Fira Code"/>
                <a:sym typeface="Fira Code"/>
              </a:rPr>
              <a:t>0</a:t>
            </a:r>
            <a:r>
              <a:rPr lang="en-US" sz="1300">
                <a:solidFill>
                  <a:srgbClr val="64FFDA"/>
                </a:solidFill>
                <a:highlight>
                  <a:srgbClr val="020C1B"/>
                </a:highlight>
                <a:latin typeface="Fira Code"/>
                <a:ea typeface="Fira Code"/>
                <a:cs typeface="Fira Code"/>
                <a:sym typeface="Fira Code"/>
              </a:rPr>
              <a:t>;</a:t>
            </a:r>
            <a:endParaRPr sz="1300">
              <a:solidFill>
                <a:srgbClr val="64FFDA"/>
              </a:solidFill>
              <a:highlight>
                <a:srgbClr val="020C1B"/>
              </a:highlight>
              <a:latin typeface="Fira Code"/>
              <a:ea typeface="Fira Code"/>
              <a:cs typeface="Fira Code"/>
              <a:sym typeface="Fira Code"/>
            </a:endParaRPr>
          </a:p>
          <a:p>
            <a:pPr marL="190500" marR="190500" lvl="0" indent="0" algn="just" rtl="0">
              <a:lnSpc>
                <a:spcPct val="150000"/>
              </a:lnSpc>
              <a:spcBef>
                <a:spcPts val="0"/>
              </a:spcBef>
              <a:spcAft>
                <a:spcPts val="1500"/>
              </a:spcAft>
              <a:buNone/>
            </a:pPr>
            <a:r>
              <a:rPr lang="en-US" sz="1300">
                <a:solidFill>
                  <a:srgbClr val="64FFDA"/>
                </a:solidFill>
                <a:highlight>
                  <a:srgbClr val="020C1B"/>
                </a:highlight>
                <a:latin typeface="Fira Code"/>
                <a:ea typeface="Fira Code"/>
                <a:cs typeface="Fira Code"/>
                <a:sym typeface="Fira Code"/>
              </a:rPr>
              <a:t>}</a:t>
            </a:r>
            <a:endParaRPr sz="1300">
              <a:solidFill>
                <a:srgbClr val="64FFDA"/>
              </a:solidFill>
              <a:highlight>
                <a:srgbClr val="020C1B"/>
              </a:highlight>
              <a:latin typeface="Fira Code"/>
              <a:ea typeface="Fira Code"/>
              <a:cs typeface="Fira Code"/>
              <a:sym typeface="Fira Cod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21"/>
        <p:cNvGrpSpPr/>
        <p:nvPr/>
      </p:nvGrpSpPr>
      <p:grpSpPr>
        <a:xfrm>
          <a:off x="0" y="0"/>
          <a:ext cx="0" cy="0"/>
          <a:chOff x="0" y="0"/>
          <a:chExt cx="0" cy="0"/>
        </a:xfrm>
      </p:grpSpPr>
      <p:pic>
        <p:nvPicPr>
          <p:cNvPr id="222" name="Google Shape;222;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3" name="Google Shape;223;p24"/>
          <p:cNvSpPr txBox="1"/>
          <p:nvPr/>
        </p:nvSpPr>
        <p:spPr>
          <a:xfrm>
            <a:off x="3575685" y="1773733"/>
            <a:ext cx="5040630"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FD700"/>
                </a:solidFill>
                <a:latin typeface="Poppins"/>
                <a:ea typeface="Poppins"/>
                <a:cs typeface="Poppins"/>
                <a:sym typeface="Poppins"/>
              </a:rPr>
              <a:t>2. Priority Queue</a:t>
            </a:r>
            <a:endParaRPr/>
          </a:p>
        </p:txBody>
      </p:sp>
      <p:sp>
        <p:nvSpPr>
          <p:cNvPr id="224" name="Google Shape;224;p24"/>
          <p:cNvSpPr txBox="1"/>
          <p:nvPr/>
        </p:nvSpPr>
        <p:spPr>
          <a:xfrm>
            <a:off x="2286000" y="2821483"/>
            <a:ext cx="7620000" cy="1462682"/>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CCD6F6"/>
                </a:solidFill>
                <a:latin typeface="Inter"/>
                <a:ea typeface="Inter"/>
                <a:cs typeface="Inter"/>
                <a:sym typeface="Inter"/>
              </a:rPr>
              <a:t>Pemberontakan terhadap prinsip keadilan murni FIFO (First In First Out). Struktur data cerdas yang melayani elemen berdasarkan </a:t>
            </a:r>
            <a:r>
              <a:rPr lang="en-US" sz="1800" b="1" i="0" u="none" strike="noStrike" cap="none">
                <a:solidFill>
                  <a:srgbClr val="CCD6F6"/>
                </a:solidFill>
                <a:latin typeface="Inter"/>
                <a:ea typeface="Inter"/>
                <a:cs typeface="Inter"/>
                <a:sym typeface="Inter"/>
              </a:rPr>
              <a:t>tingkat kepentingan (prioritas)</a:t>
            </a:r>
            <a:r>
              <a:rPr lang="en-US" sz="1800" b="0" i="0" u="none" strike="noStrike" cap="none">
                <a:solidFill>
                  <a:srgbClr val="CCD6F6"/>
                </a:solidFill>
                <a:latin typeface="Inter"/>
                <a:ea typeface="Inter"/>
                <a:cs typeface="Inter"/>
                <a:sym typeface="Inter"/>
              </a:rPr>
              <a:t> matematis, bukan sekadar berdasarkan waktu kedatangan.</a:t>
            </a:r>
            <a:endParaRPr/>
          </a:p>
        </p:txBody>
      </p:sp>
      <p:sp>
        <p:nvSpPr>
          <p:cNvPr id="225" name="Google Shape;225;p24"/>
          <p:cNvSpPr/>
          <p:nvPr/>
        </p:nvSpPr>
        <p:spPr>
          <a:xfrm>
            <a:off x="5381625" y="4665166"/>
            <a:ext cx="1428750" cy="38100"/>
          </a:xfrm>
          <a:prstGeom prst="rect">
            <a:avLst/>
          </a:prstGeom>
          <a:solidFill>
            <a:srgbClr val="64FF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29"/>
        <p:cNvGrpSpPr/>
        <p:nvPr/>
      </p:nvGrpSpPr>
      <p:grpSpPr>
        <a:xfrm>
          <a:off x="0" y="0"/>
          <a:ext cx="0" cy="0"/>
          <a:chOff x="0" y="0"/>
          <a:chExt cx="0" cy="0"/>
        </a:xfrm>
      </p:grpSpPr>
      <p:sp>
        <p:nvSpPr>
          <p:cNvPr id="230" name="Google Shape;230;p25"/>
          <p:cNvSpPr txBox="1"/>
          <p:nvPr/>
        </p:nvSpPr>
        <p:spPr>
          <a:xfrm>
            <a:off x="1047750" y="1464469"/>
            <a:ext cx="4810200" cy="19626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Patahnya Hukum FIFO:</a:t>
            </a:r>
            <a:r>
              <a:rPr lang="en-US" sz="1500" b="0" i="0" u="none" strike="noStrike" cap="none">
                <a:solidFill>
                  <a:srgbClr val="CCD6F6"/>
                </a:solidFill>
                <a:latin typeface="Inter"/>
                <a:ea typeface="Inter"/>
                <a:cs typeface="Inter"/>
                <a:sym typeface="Inter"/>
              </a:rPr>
              <a:t> Di antrean bank normal, siapa datang pertama, dilayani pertama (FIFO). Di UGD Rumah Sakit, pasien gagal jantung (prioritas mutlak tinggi) akan melangkahi antrean pasien flu, meski pasien flu datang berjam-jam lebih awal. Itulah </a:t>
            </a:r>
            <a:r>
              <a:rPr lang="en-US" sz="1500" b="0" i="1" u="none" strike="noStrike" cap="none">
                <a:solidFill>
                  <a:srgbClr val="CCD6F6"/>
                </a:solidFill>
                <a:latin typeface="Inter"/>
                <a:ea typeface="Inter"/>
                <a:cs typeface="Inter"/>
                <a:sym typeface="Inter"/>
              </a:rPr>
              <a:t>Priority Queue</a:t>
            </a:r>
            <a:r>
              <a:rPr lang="en-US" sz="1500" b="0" i="0" u="none" strike="noStrike" cap="none">
                <a:solidFill>
                  <a:srgbClr val="CCD6F6"/>
                </a:solidFill>
                <a:latin typeface="Inter"/>
                <a:ea typeface="Inter"/>
                <a:cs typeface="Inter"/>
                <a:sym typeface="Inter"/>
              </a:rPr>
              <a:t>.</a:t>
            </a:r>
            <a:endParaRPr/>
          </a:p>
        </p:txBody>
      </p:sp>
      <p:sp>
        <p:nvSpPr>
          <p:cNvPr id="231" name="Google Shape;231;p25"/>
          <p:cNvSpPr txBox="1"/>
          <p:nvPr/>
        </p:nvSpPr>
        <p:spPr>
          <a:xfrm>
            <a:off x="1047750" y="3496108"/>
            <a:ext cx="4810200" cy="9234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Aturan Internal:</a:t>
            </a:r>
            <a:r>
              <a:rPr lang="en-US" sz="1500" b="0" i="0" u="none" strike="noStrike" cap="none">
                <a:solidFill>
                  <a:srgbClr val="CCD6F6"/>
                </a:solidFill>
                <a:latin typeface="Inter"/>
                <a:ea typeface="Inter"/>
                <a:cs typeface="Inter"/>
                <a:sym typeface="Inter"/>
              </a:rPr>
              <a:t> Setiap elemen data wajib membawa sebuah nilai ekstra yang disebut sebagai "Bobot Prioritas".</a:t>
            </a:r>
            <a:endParaRPr/>
          </a:p>
        </p:txBody>
      </p:sp>
      <p:sp>
        <p:nvSpPr>
          <p:cNvPr id="232" name="Google Shape;232;p25"/>
          <p:cNvSpPr txBox="1"/>
          <p:nvPr/>
        </p:nvSpPr>
        <p:spPr>
          <a:xfrm>
            <a:off x="1047750" y="4543858"/>
            <a:ext cx="4810200" cy="9234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CCD6F6"/>
                </a:solidFill>
                <a:latin typeface="Inter"/>
                <a:ea typeface="Inter"/>
                <a:cs typeface="Inter"/>
                <a:sym typeface="Inter"/>
              </a:rPr>
              <a:t>Jika ada dua elemen berprioritas persis </a:t>
            </a:r>
            <a:r>
              <a:rPr lang="en-US" sz="1500" b="0" i="0" u="none" strike="noStrike" cap="none">
                <a:solidFill>
                  <a:srgbClr val="64FFDA"/>
                </a:solidFill>
                <a:latin typeface="Inter SemiBold"/>
                <a:ea typeface="Inter SemiBold"/>
                <a:cs typeface="Inter SemiBold"/>
                <a:sym typeface="Inter SemiBold"/>
              </a:rPr>
              <a:t>sama</a:t>
            </a:r>
            <a:r>
              <a:rPr lang="en-US" sz="1500" b="0" i="0" u="none" strike="noStrike" cap="none">
                <a:solidFill>
                  <a:srgbClr val="CCD6F6"/>
                </a:solidFill>
                <a:latin typeface="Inter"/>
                <a:ea typeface="Inter"/>
                <a:cs typeface="Inter"/>
                <a:sym typeface="Inter"/>
              </a:rPr>
              <a:t>, barulah aturan asal </a:t>
            </a:r>
            <a:r>
              <a:rPr lang="en-US" sz="1500" b="0" i="0" u="none" strike="noStrike" cap="none">
                <a:solidFill>
                  <a:srgbClr val="64FFDA"/>
                </a:solidFill>
                <a:latin typeface="Inter SemiBold"/>
                <a:ea typeface="Inter SemiBold"/>
                <a:cs typeface="Inter SemiBold"/>
                <a:sym typeface="Inter SemiBold"/>
              </a:rPr>
              <a:t>FIFO</a:t>
            </a:r>
            <a:r>
              <a:rPr lang="en-US" sz="1500" b="0" i="0" u="none" strike="noStrike" cap="none">
                <a:solidFill>
                  <a:srgbClr val="CCD6F6"/>
                </a:solidFill>
                <a:latin typeface="Inter"/>
                <a:ea typeface="Inter"/>
                <a:cs typeface="Inter"/>
                <a:sym typeface="Inter"/>
              </a:rPr>
              <a:t> kembali ditegakkan di antara mereka berdua.</a:t>
            </a:r>
            <a:endParaRPr/>
          </a:p>
        </p:txBody>
      </p:sp>
      <p:pic>
        <p:nvPicPr>
          <p:cNvPr id="233" name="Google Shape;233;p25" descr="image.png"/>
          <p:cNvPicPr preferRelativeResize="0"/>
          <p:nvPr/>
        </p:nvPicPr>
        <p:blipFill rotWithShape="1">
          <a:blip r:embed="rId3">
            <a:alphaModFix/>
          </a:blip>
          <a:srcRect/>
          <a:stretch/>
        </p:blipFill>
        <p:spPr>
          <a:xfrm>
            <a:off x="571500" y="1493044"/>
            <a:ext cx="228600" cy="247650"/>
          </a:xfrm>
          <a:prstGeom prst="rect">
            <a:avLst/>
          </a:prstGeom>
          <a:noFill/>
          <a:ln>
            <a:noFill/>
          </a:ln>
        </p:spPr>
      </p:pic>
      <p:pic>
        <p:nvPicPr>
          <p:cNvPr id="234" name="Google Shape;234;p25" descr="image.png"/>
          <p:cNvPicPr preferRelativeResize="0"/>
          <p:nvPr/>
        </p:nvPicPr>
        <p:blipFill rotWithShape="1">
          <a:blip r:embed="rId4">
            <a:alphaModFix/>
          </a:blip>
          <a:srcRect/>
          <a:stretch/>
        </p:blipFill>
        <p:spPr>
          <a:xfrm>
            <a:off x="571500" y="3524683"/>
            <a:ext cx="228600" cy="247650"/>
          </a:xfrm>
          <a:prstGeom prst="rect">
            <a:avLst/>
          </a:prstGeom>
          <a:noFill/>
          <a:ln>
            <a:noFill/>
          </a:ln>
        </p:spPr>
      </p:pic>
      <p:pic>
        <p:nvPicPr>
          <p:cNvPr id="235" name="Google Shape;235;p25" descr="image.png"/>
          <p:cNvPicPr preferRelativeResize="0"/>
          <p:nvPr/>
        </p:nvPicPr>
        <p:blipFill rotWithShape="1">
          <a:blip r:embed="rId5">
            <a:alphaModFix/>
          </a:blip>
          <a:srcRect/>
          <a:stretch/>
        </p:blipFill>
        <p:spPr>
          <a:xfrm>
            <a:off x="571500" y="4572433"/>
            <a:ext cx="285750" cy="247650"/>
          </a:xfrm>
          <a:prstGeom prst="rect">
            <a:avLst/>
          </a:prstGeom>
          <a:noFill/>
          <a:ln>
            <a:noFill/>
          </a:ln>
        </p:spPr>
      </p:pic>
      <p:sp>
        <p:nvSpPr>
          <p:cNvPr id="236" name="Google Shape;236;p2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Konsep Prioritas vs FIFO</a:t>
            </a:r>
            <a:endParaRPr/>
          </a:p>
        </p:txBody>
      </p:sp>
      <p:pic>
        <p:nvPicPr>
          <p:cNvPr id="237" name="Google Shape;237;p25"/>
          <p:cNvPicPr preferRelativeResize="0"/>
          <p:nvPr/>
        </p:nvPicPr>
        <p:blipFill>
          <a:blip r:embed="rId6">
            <a:alphaModFix/>
          </a:blip>
          <a:stretch>
            <a:fillRect/>
          </a:stretch>
        </p:blipFill>
        <p:spPr>
          <a:xfrm>
            <a:off x="6653425" y="1551650"/>
            <a:ext cx="5006249" cy="3754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41"/>
        <p:cNvGrpSpPr/>
        <p:nvPr/>
      </p:nvGrpSpPr>
      <p:grpSpPr>
        <a:xfrm>
          <a:off x="0" y="0"/>
          <a:ext cx="0" cy="0"/>
          <a:chOff x="0" y="0"/>
          <a:chExt cx="0" cy="0"/>
        </a:xfrm>
      </p:grpSpPr>
      <p:pic>
        <p:nvPicPr>
          <p:cNvPr id="242" name="Google Shape;242;p26" descr="image.png"/>
          <p:cNvPicPr preferRelativeResize="0"/>
          <p:nvPr/>
        </p:nvPicPr>
        <p:blipFill rotWithShape="1">
          <a:blip r:embed="rId3">
            <a:alphaModFix/>
          </a:blip>
          <a:srcRect/>
          <a:stretch/>
        </p:blipFill>
        <p:spPr>
          <a:xfrm>
            <a:off x="571500" y="1908247"/>
            <a:ext cx="5381625" cy="3560266"/>
          </a:xfrm>
          <a:prstGeom prst="rect">
            <a:avLst/>
          </a:prstGeom>
          <a:noFill/>
          <a:ln>
            <a:noFill/>
          </a:ln>
        </p:spPr>
      </p:pic>
      <p:pic>
        <p:nvPicPr>
          <p:cNvPr id="243" name="Google Shape;243;p26" descr="image.png"/>
          <p:cNvPicPr preferRelativeResize="0"/>
          <p:nvPr/>
        </p:nvPicPr>
        <p:blipFill rotWithShape="1">
          <a:blip r:embed="rId4">
            <a:alphaModFix/>
          </a:blip>
          <a:srcRect/>
          <a:stretch/>
        </p:blipFill>
        <p:spPr>
          <a:xfrm>
            <a:off x="6238875" y="1908247"/>
            <a:ext cx="5381625" cy="3560266"/>
          </a:xfrm>
          <a:prstGeom prst="rect">
            <a:avLst/>
          </a:prstGeom>
          <a:noFill/>
          <a:ln>
            <a:noFill/>
          </a:ln>
        </p:spPr>
      </p:pic>
      <p:sp>
        <p:nvSpPr>
          <p:cNvPr id="244" name="Google Shape;244;p26"/>
          <p:cNvSpPr txBox="1"/>
          <p:nvPr/>
        </p:nvSpPr>
        <p:spPr>
          <a:xfrm>
            <a:off x="866775" y="2860747"/>
            <a:ext cx="5030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CCD6F6"/>
                </a:solidFill>
                <a:latin typeface="Poppins SemiBold"/>
                <a:ea typeface="Poppins SemiBold"/>
                <a:cs typeface="Poppins SemiBold"/>
                <a:sym typeface="Poppins SemiBold"/>
              </a:rPr>
              <a:t>Ascending Priority Queue</a:t>
            </a:r>
            <a:endParaRPr/>
          </a:p>
        </p:txBody>
      </p:sp>
      <p:sp>
        <p:nvSpPr>
          <p:cNvPr id="245" name="Google Shape;245;p26"/>
          <p:cNvSpPr txBox="1"/>
          <p:nvPr/>
        </p:nvSpPr>
        <p:spPr>
          <a:xfrm>
            <a:off x="866775" y="3403672"/>
            <a:ext cx="4791000" cy="6003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Prioritas </a:t>
            </a:r>
            <a:r>
              <a:rPr lang="en-US" sz="1500" b="1" i="0" u="none" strike="noStrike" cap="none">
                <a:solidFill>
                  <a:srgbClr val="8892B0"/>
                </a:solidFill>
                <a:latin typeface="Inter"/>
                <a:ea typeface="Inter"/>
                <a:cs typeface="Inter"/>
                <a:sym typeface="Inter"/>
              </a:rPr>
              <a:t>Terkuat</a:t>
            </a:r>
            <a:r>
              <a:rPr lang="en-US" sz="1500" b="0" i="0" u="none" strike="noStrike" cap="none">
                <a:solidFill>
                  <a:srgbClr val="8892B0"/>
                </a:solidFill>
                <a:latin typeface="Inter"/>
                <a:ea typeface="Inter"/>
                <a:cs typeface="Inter"/>
                <a:sym typeface="Inter"/>
              </a:rPr>
              <a:t> diberikan pada elemen dengan nilai bobot angka yang </a:t>
            </a:r>
            <a:r>
              <a:rPr lang="en-US" sz="1500" b="1" i="0" u="none" strike="noStrike" cap="none">
                <a:solidFill>
                  <a:srgbClr val="8892B0"/>
                </a:solidFill>
                <a:latin typeface="Inter"/>
                <a:ea typeface="Inter"/>
                <a:cs typeface="Inter"/>
                <a:sym typeface="Inter"/>
              </a:rPr>
              <a:t>Paling Kecil</a:t>
            </a:r>
            <a:r>
              <a:rPr lang="en-US" sz="1500" b="0" i="0" u="none" strike="noStrike" cap="none">
                <a:solidFill>
                  <a:srgbClr val="8892B0"/>
                </a:solidFill>
                <a:latin typeface="Inter"/>
                <a:ea typeface="Inter"/>
                <a:cs typeface="Inter"/>
                <a:sym typeface="Inter"/>
              </a:rPr>
              <a:t>.</a:t>
            </a:r>
            <a:endParaRPr/>
          </a:p>
        </p:txBody>
      </p:sp>
      <p:sp>
        <p:nvSpPr>
          <p:cNvPr id="246" name="Google Shape;246;p26"/>
          <p:cNvSpPr txBox="1"/>
          <p:nvPr/>
        </p:nvSpPr>
        <p:spPr>
          <a:xfrm>
            <a:off x="866775" y="4299022"/>
            <a:ext cx="4791000" cy="4803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200" b="0" i="0" u="none" strike="noStrike" cap="none">
                <a:solidFill>
                  <a:srgbClr val="8892B0"/>
                </a:solidFill>
                <a:latin typeface="Inter"/>
                <a:ea typeface="Inter"/>
                <a:cs typeface="Inter"/>
                <a:sym typeface="Inter"/>
              </a:rPr>
              <a:t>Contoh: Angka 1 dianggap "Ranking 1", sehingga diproses mendahului angka 5. Sistem Min-Heap.</a:t>
            </a:r>
            <a:endParaRPr/>
          </a:p>
        </p:txBody>
      </p:sp>
      <p:sp>
        <p:nvSpPr>
          <p:cNvPr id="247" name="Google Shape;247;p26"/>
          <p:cNvSpPr txBox="1"/>
          <p:nvPr/>
        </p:nvSpPr>
        <p:spPr>
          <a:xfrm>
            <a:off x="6534150" y="2860747"/>
            <a:ext cx="5030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CCD6F6"/>
                </a:solidFill>
                <a:latin typeface="Poppins SemiBold"/>
                <a:ea typeface="Poppins SemiBold"/>
                <a:cs typeface="Poppins SemiBold"/>
                <a:sym typeface="Poppins SemiBold"/>
              </a:rPr>
              <a:t>Descending Priority Queue</a:t>
            </a:r>
            <a:endParaRPr/>
          </a:p>
        </p:txBody>
      </p:sp>
      <p:sp>
        <p:nvSpPr>
          <p:cNvPr id="248" name="Google Shape;248;p26"/>
          <p:cNvSpPr txBox="1"/>
          <p:nvPr/>
        </p:nvSpPr>
        <p:spPr>
          <a:xfrm>
            <a:off x="6534150" y="3403672"/>
            <a:ext cx="4791000" cy="6003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Prioritas </a:t>
            </a:r>
            <a:r>
              <a:rPr lang="en-US" sz="1500" b="1" i="0" u="none" strike="noStrike" cap="none">
                <a:solidFill>
                  <a:srgbClr val="8892B0"/>
                </a:solidFill>
                <a:latin typeface="Inter"/>
                <a:ea typeface="Inter"/>
                <a:cs typeface="Inter"/>
                <a:sym typeface="Inter"/>
              </a:rPr>
              <a:t>Terkuat</a:t>
            </a:r>
            <a:r>
              <a:rPr lang="en-US" sz="1500" b="0" i="0" u="none" strike="noStrike" cap="none">
                <a:solidFill>
                  <a:srgbClr val="8892B0"/>
                </a:solidFill>
                <a:latin typeface="Inter"/>
                <a:ea typeface="Inter"/>
                <a:cs typeface="Inter"/>
                <a:sym typeface="Inter"/>
              </a:rPr>
              <a:t> diberikan pada elemen dengan nilai bobot angka yang </a:t>
            </a:r>
            <a:r>
              <a:rPr lang="en-US" sz="1500" b="1" i="0" u="none" strike="noStrike" cap="none">
                <a:solidFill>
                  <a:srgbClr val="8892B0"/>
                </a:solidFill>
                <a:latin typeface="Inter"/>
                <a:ea typeface="Inter"/>
                <a:cs typeface="Inter"/>
                <a:sym typeface="Inter"/>
              </a:rPr>
              <a:t>Paling Besar</a:t>
            </a:r>
            <a:r>
              <a:rPr lang="en-US" sz="1500" b="0" i="0" u="none" strike="noStrike" cap="none">
                <a:solidFill>
                  <a:srgbClr val="8892B0"/>
                </a:solidFill>
                <a:latin typeface="Inter"/>
                <a:ea typeface="Inter"/>
                <a:cs typeface="Inter"/>
                <a:sym typeface="Inter"/>
              </a:rPr>
              <a:t>.</a:t>
            </a:r>
            <a:endParaRPr/>
          </a:p>
        </p:txBody>
      </p:sp>
      <p:sp>
        <p:nvSpPr>
          <p:cNvPr id="249" name="Google Shape;249;p26"/>
          <p:cNvSpPr txBox="1"/>
          <p:nvPr/>
        </p:nvSpPr>
        <p:spPr>
          <a:xfrm>
            <a:off x="6534150" y="4299022"/>
            <a:ext cx="4791000" cy="7758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200" b="0" i="0" u="none" strike="noStrike" cap="none">
                <a:solidFill>
                  <a:srgbClr val="8892B0"/>
                </a:solidFill>
                <a:latin typeface="Inter"/>
                <a:ea typeface="Inter"/>
                <a:cs typeface="Inter"/>
                <a:sym typeface="Inter"/>
              </a:rPr>
              <a:t>Contoh: Menangani masalah finansial, memprioritaskan penyelesaian nilai transaksi Rp 1 Miliar dibanding Rp 10 Ribu. Sistem Max-Heap.</a:t>
            </a:r>
            <a:endParaRPr/>
          </a:p>
        </p:txBody>
      </p:sp>
      <p:pic>
        <p:nvPicPr>
          <p:cNvPr id="250" name="Google Shape;250;p26" descr="image.png"/>
          <p:cNvPicPr preferRelativeResize="0"/>
          <p:nvPr/>
        </p:nvPicPr>
        <p:blipFill rotWithShape="1">
          <a:blip r:embed="rId5">
            <a:alphaModFix/>
          </a:blip>
          <a:srcRect/>
          <a:stretch/>
        </p:blipFill>
        <p:spPr>
          <a:xfrm>
            <a:off x="866775" y="2241622"/>
            <a:ext cx="428625" cy="381000"/>
          </a:xfrm>
          <a:prstGeom prst="rect">
            <a:avLst/>
          </a:prstGeom>
          <a:noFill/>
          <a:ln>
            <a:noFill/>
          </a:ln>
        </p:spPr>
      </p:pic>
      <p:pic>
        <p:nvPicPr>
          <p:cNvPr id="251" name="Google Shape;251;p26" descr="image.png"/>
          <p:cNvPicPr preferRelativeResize="0"/>
          <p:nvPr/>
        </p:nvPicPr>
        <p:blipFill rotWithShape="1">
          <a:blip r:embed="rId6">
            <a:alphaModFix/>
          </a:blip>
          <a:srcRect/>
          <a:stretch/>
        </p:blipFill>
        <p:spPr>
          <a:xfrm>
            <a:off x="6534150" y="2241622"/>
            <a:ext cx="428625" cy="381000"/>
          </a:xfrm>
          <a:prstGeom prst="rect">
            <a:avLst/>
          </a:prstGeom>
          <a:noFill/>
          <a:ln>
            <a:noFill/>
          </a:ln>
        </p:spPr>
      </p:pic>
      <p:sp>
        <p:nvSpPr>
          <p:cNvPr id="252" name="Google Shape;252;p2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Dua Aliran Prioritas Utama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56"/>
        <p:cNvGrpSpPr/>
        <p:nvPr/>
      </p:nvGrpSpPr>
      <p:grpSpPr>
        <a:xfrm>
          <a:off x="0" y="0"/>
          <a:ext cx="0" cy="0"/>
          <a:chOff x="0" y="0"/>
          <a:chExt cx="0" cy="0"/>
        </a:xfrm>
      </p:grpSpPr>
      <p:pic>
        <p:nvPicPr>
          <p:cNvPr id="257" name="Google Shape;257;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8" name="Google Shape;258;p27" descr="image.png"/>
          <p:cNvPicPr preferRelativeResize="0"/>
          <p:nvPr/>
        </p:nvPicPr>
        <p:blipFill rotWithShape="1">
          <a:blip r:embed="rId4">
            <a:alphaModFix/>
          </a:blip>
          <a:srcRect/>
          <a:stretch/>
        </p:blipFill>
        <p:spPr>
          <a:xfrm>
            <a:off x="571500" y="1333500"/>
            <a:ext cx="11049000" cy="2724150"/>
          </a:xfrm>
          <a:prstGeom prst="rect">
            <a:avLst/>
          </a:prstGeom>
          <a:noFill/>
          <a:ln>
            <a:noFill/>
          </a:ln>
        </p:spPr>
      </p:pic>
      <p:graphicFrame>
        <p:nvGraphicFramePr>
          <p:cNvPr id="259" name="Google Shape;259;p27"/>
          <p:cNvGraphicFramePr/>
          <p:nvPr/>
        </p:nvGraphicFramePr>
        <p:xfrm>
          <a:off x="581025" y="1343025"/>
          <a:ext cx="3000000" cy="3000000"/>
        </p:xfrm>
        <a:graphic>
          <a:graphicData uri="http://schemas.openxmlformats.org/drawingml/2006/table">
            <a:tbl>
              <a:tblPr firstRow="1" bandRow="1">
                <a:noFill/>
                <a:tableStyleId>{911CAA84-FF34-4053-83B9-34899810A1EA}</a:tableStyleId>
              </a:tblPr>
              <a:tblGrid>
                <a:gridCol w="1971375"/>
                <a:gridCol w="9058575"/>
              </a:tblGrid>
              <a:tr h="676275">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Operasi C++ STL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Deskripsi Algoritmik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76275">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push() / insert()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Menyisipkan elemen ke dalam antrean. Sistem otomatis mengevaluasi dan menggeser elemen tersebut ke posisi yang sesuai dengan hierarki prioritasnya.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76275">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pop() / extract_max()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Selalu mencabut/menghapus dan mengembalikan elemen dengan </a:t>
                      </a:r>
                      <a:r>
                        <a:rPr lang="en-US" sz="1350" b="1" i="0" u="none" strike="noStrike" cap="none">
                          <a:solidFill>
                            <a:srgbClr val="CCD6F6"/>
                          </a:solidFill>
                          <a:latin typeface="Inter"/>
                          <a:ea typeface="Inter"/>
                          <a:cs typeface="Inter"/>
                          <a:sym typeface="Inter"/>
                        </a:rPr>
                        <a:t>prioritas paling tinggi</a:t>
                      </a:r>
                      <a:r>
                        <a:rPr lang="en-US" sz="1350" b="0" i="0" u="none" strike="noStrike" cap="none">
                          <a:solidFill>
                            <a:srgbClr val="CCD6F6"/>
                          </a:solidFill>
                          <a:latin typeface="Inter"/>
                          <a:ea typeface="Inter"/>
                          <a:cs typeface="Inter"/>
                          <a:sym typeface="Inter"/>
                        </a:rPr>
                        <a:t> dari antrean, di manapun elemen itu sebelumnya bersemayam.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76275">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top() / peek()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Mengintip (mengekstrak data) elemen berprioritas tertinggi tanpa benar-benar menghapusnya dari arsitektur struktur antrean.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bl>
          </a:graphicData>
        </a:graphic>
      </p:graphicFrame>
      <p:sp>
        <p:nvSpPr>
          <p:cNvPr id="260" name="Google Shape;260;p27"/>
          <p:cNvSpPr/>
          <p:nvPr/>
        </p:nvSpPr>
        <p:spPr>
          <a:xfrm>
            <a:off x="581025" y="1900237"/>
            <a:ext cx="1971377" cy="9525"/>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7"/>
          <p:cNvSpPr/>
          <p:nvPr/>
        </p:nvSpPr>
        <p:spPr>
          <a:xfrm>
            <a:off x="2552402" y="1900237"/>
            <a:ext cx="9058572" cy="9525"/>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7"/>
          <p:cNvSpPr/>
          <p:nvPr/>
        </p:nvSpPr>
        <p:spPr>
          <a:xfrm>
            <a:off x="581025" y="2614612"/>
            <a:ext cx="1971377" cy="9525"/>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7"/>
          <p:cNvSpPr/>
          <p:nvPr/>
        </p:nvSpPr>
        <p:spPr>
          <a:xfrm>
            <a:off x="2552402" y="2614612"/>
            <a:ext cx="9058572" cy="9525"/>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7"/>
          <p:cNvSpPr/>
          <p:nvPr/>
        </p:nvSpPr>
        <p:spPr>
          <a:xfrm>
            <a:off x="581025" y="3328987"/>
            <a:ext cx="1971377" cy="9525"/>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7"/>
          <p:cNvSpPr/>
          <p:nvPr/>
        </p:nvSpPr>
        <p:spPr>
          <a:xfrm>
            <a:off x="2552402" y="3328987"/>
            <a:ext cx="9058572" cy="9525"/>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2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Operasi Dasar Priority Queue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70"/>
        <p:cNvGrpSpPr/>
        <p:nvPr/>
      </p:nvGrpSpPr>
      <p:grpSpPr>
        <a:xfrm>
          <a:off x="0" y="0"/>
          <a:ext cx="0" cy="0"/>
          <a:chOff x="0" y="0"/>
          <a:chExt cx="0" cy="0"/>
        </a:xfrm>
      </p:grpSpPr>
      <p:sp>
        <p:nvSpPr>
          <p:cNvPr id="271" name="Google Shape;271;p28"/>
          <p:cNvSpPr txBox="1"/>
          <p:nvPr/>
        </p:nvSpPr>
        <p:spPr>
          <a:xfrm>
            <a:off x="571500" y="2146372"/>
            <a:ext cx="5286300" cy="9696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Priority Queue dapat dipaksakan untuk dibangun menggunakan struktur linear dasar (Array atau Linked List). Ada dua pendekatan pendekatan:</a:t>
            </a:r>
            <a:endParaRPr/>
          </a:p>
        </p:txBody>
      </p:sp>
      <p:sp>
        <p:nvSpPr>
          <p:cNvPr id="272" name="Google Shape;272;p28"/>
          <p:cNvSpPr txBox="1"/>
          <p:nvPr/>
        </p:nvSpPr>
        <p:spPr>
          <a:xfrm>
            <a:off x="573881" y="3251272"/>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273" name="Google Shape;273;p28"/>
          <p:cNvSpPr txBox="1"/>
          <p:nvPr/>
        </p:nvSpPr>
        <p:spPr>
          <a:xfrm>
            <a:off x="716540" y="3261014"/>
            <a:ext cx="4810200" cy="9234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Unsorted List:</a:t>
            </a:r>
            <a:r>
              <a:rPr lang="en-US" sz="1500" b="0" i="0" u="none" strike="noStrike" cap="none">
                <a:solidFill>
                  <a:srgbClr val="CCD6F6"/>
                </a:solidFill>
                <a:latin typeface="Inter"/>
                <a:ea typeface="Inter"/>
                <a:cs typeface="Inter"/>
                <a:sym typeface="Inter"/>
              </a:rPr>
              <a:t> Insert cepat </a:t>
            </a:r>
            <a:r>
              <a:rPr lang="en-US" sz="1500" b="0" i="1" u="none" strike="noStrike" cap="none">
                <a:solidFill>
                  <a:srgbClr val="CCD6F6"/>
                </a:solidFill>
                <a:latin typeface="Inter"/>
                <a:ea typeface="Inter"/>
                <a:cs typeface="Inter"/>
                <a:sym typeface="Inter"/>
              </a:rPr>
              <a:t>O</a:t>
            </a:r>
            <a:r>
              <a:rPr lang="en-US" sz="1500" b="0" i="0" u="none" strike="noStrike" cap="none">
                <a:solidFill>
                  <a:srgbClr val="CCD6F6"/>
                </a:solidFill>
                <a:latin typeface="Inter"/>
                <a:ea typeface="Inter"/>
                <a:cs typeface="Inter"/>
                <a:sym typeface="Inter"/>
              </a:rPr>
              <a:t>(1) (asal masuk), tapi pencarian Delete/Peek terburuk akan lambat karena harus linear search mencari elemen terkuat </a:t>
            </a:r>
            <a:r>
              <a:rPr lang="en-US" sz="1500" b="0" i="1" u="none" strike="noStrike" cap="none">
                <a:solidFill>
                  <a:srgbClr val="CCD6F6"/>
                </a:solidFill>
                <a:latin typeface="Inter"/>
                <a:ea typeface="Inter"/>
                <a:cs typeface="Inter"/>
                <a:sym typeface="Inter"/>
              </a:rPr>
              <a:t>O</a:t>
            </a:r>
            <a:r>
              <a:rPr lang="en-US" sz="1500" b="0" i="0" u="none" strike="noStrike" cap="none">
                <a:solidFill>
                  <a:srgbClr val="CCD6F6"/>
                </a:solidFill>
                <a:latin typeface="Inter"/>
                <a:ea typeface="Inter"/>
                <a:cs typeface="Inter"/>
                <a:sym typeface="Inter"/>
              </a:rPr>
              <a:t>(</a:t>
            </a:r>
            <a:r>
              <a:rPr lang="en-US" sz="1500" b="0" i="1" u="none" strike="noStrike" cap="none">
                <a:solidFill>
                  <a:srgbClr val="CCD6F6"/>
                </a:solidFill>
                <a:latin typeface="Inter"/>
                <a:ea typeface="Inter"/>
                <a:cs typeface="Inter"/>
                <a:sym typeface="Inter"/>
              </a:rPr>
              <a:t>N</a:t>
            </a:r>
            <a:r>
              <a:rPr lang="en-US" sz="1500" b="0" i="0" u="none" strike="noStrike" cap="none">
                <a:solidFill>
                  <a:srgbClr val="CCD6F6"/>
                </a:solidFill>
                <a:latin typeface="Inter"/>
                <a:ea typeface="Inter"/>
                <a:cs typeface="Inter"/>
                <a:sym typeface="Inter"/>
              </a:rPr>
              <a:t>) .</a:t>
            </a:r>
            <a:endParaRPr/>
          </a:p>
        </p:txBody>
      </p:sp>
      <p:sp>
        <p:nvSpPr>
          <p:cNvPr id="274" name="Google Shape;274;p28"/>
          <p:cNvSpPr txBox="1"/>
          <p:nvPr/>
        </p:nvSpPr>
        <p:spPr>
          <a:xfrm>
            <a:off x="573881" y="4299022"/>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275" name="Google Shape;275;p28"/>
          <p:cNvSpPr txBox="1"/>
          <p:nvPr/>
        </p:nvSpPr>
        <p:spPr>
          <a:xfrm>
            <a:off x="716540" y="4308764"/>
            <a:ext cx="4810200" cy="9234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Sorted List:</a:t>
            </a:r>
            <a:r>
              <a:rPr lang="en-US" sz="1500" b="0" i="0" u="none" strike="noStrike" cap="none">
                <a:solidFill>
                  <a:srgbClr val="CCD6F6"/>
                </a:solidFill>
                <a:latin typeface="Inter"/>
                <a:ea typeface="Inter"/>
                <a:cs typeface="Inter"/>
                <a:sym typeface="Inter"/>
              </a:rPr>
              <a:t> Delete cepat </a:t>
            </a:r>
            <a:r>
              <a:rPr lang="en-US" sz="1500" i="1">
                <a:solidFill>
                  <a:srgbClr val="CCD6F6"/>
                </a:solidFill>
                <a:latin typeface="Inter"/>
                <a:ea typeface="Inter"/>
                <a:cs typeface="Inter"/>
                <a:sym typeface="Inter"/>
              </a:rPr>
              <a:t>O</a:t>
            </a:r>
            <a:r>
              <a:rPr lang="en-US" sz="1500">
                <a:solidFill>
                  <a:srgbClr val="CCD6F6"/>
                </a:solidFill>
                <a:latin typeface="Inter"/>
                <a:ea typeface="Inter"/>
                <a:cs typeface="Inter"/>
                <a:sym typeface="Inter"/>
              </a:rPr>
              <a:t>(1)</a:t>
            </a:r>
            <a:r>
              <a:rPr lang="en-US" sz="1500" b="0" i="0" u="none" strike="noStrike" cap="none">
                <a:solidFill>
                  <a:srgbClr val="CCD6F6"/>
                </a:solidFill>
                <a:latin typeface="Inter"/>
                <a:ea typeface="Inter"/>
                <a:cs typeface="Inter"/>
                <a:sym typeface="Inter"/>
              </a:rPr>
              <a:t> (selalu elemen paling ujung), tapi Insert lambat karena harus menggeser elemen </a:t>
            </a:r>
            <a:r>
              <a:rPr lang="en-US" sz="1500" i="1">
                <a:solidFill>
                  <a:srgbClr val="CCD6F6"/>
                </a:solidFill>
                <a:latin typeface="Inter"/>
                <a:ea typeface="Inter"/>
                <a:cs typeface="Inter"/>
                <a:sym typeface="Inter"/>
              </a:rPr>
              <a:t>O</a:t>
            </a:r>
            <a:r>
              <a:rPr lang="en-US" sz="1500">
                <a:solidFill>
                  <a:srgbClr val="CCD6F6"/>
                </a:solidFill>
                <a:latin typeface="Inter"/>
                <a:ea typeface="Inter"/>
                <a:cs typeface="Inter"/>
                <a:sym typeface="Inter"/>
              </a:rPr>
              <a:t>(</a:t>
            </a:r>
            <a:r>
              <a:rPr lang="en-US" sz="1500" i="1">
                <a:solidFill>
                  <a:srgbClr val="CCD6F6"/>
                </a:solidFill>
                <a:latin typeface="Inter"/>
                <a:ea typeface="Inter"/>
                <a:cs typeface="Inter"/>
                <a:sym typeface="Inter"/>
              </a:rPr>
              <a:t>N</a:t>
            </a:r>
            <a:r>
              <a:rPr lang="en-US" sz="1500">
                <a:solidFill>
                  <a:srgbClr val="CCD6F6"/>
                </a:solidFill>
                <a:latin typeface="Inter"/>
                <a:ea typeface="Inter"/>
                <a:cs typeface="Inter"/>
                <a:sym typeface="Inter"/>
              </a:rPr>
              <a:t>)</a:t>
            </a:r>
            <a:r>
              <a:rPr lang="en-US" sz="1500" b="0" i="0" u="none" strike="noStrike" cap="none">
                <a:solidFill>
                  <a:srgbClr val="CCD6F6"/>
                </a:solidFill>
                <a:latin typeface="Inter"/>
                <a:ea typeface="Inter"/>
                <a:cs typeface="Inter"/>
                <a:sym typeface="Inter"/>
              </a:rPr>
              <a:t> untuk meletakkan di urutan.</a:t>
            </a:r>
            <a:endParaRPr/>
          </a:p>
        </p:txBody>
      </p:sp>
      <p:sp>
        <p:nvSpPr>
          <p:cNvPr id="276" name="Google Shape;276;p2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Implementasi Primitif (Linear)</a:t>
            </a:r>
            <a:endParaRPr/>
          </a:p>
        </p:txBody>
      </p:sp>
      <p:pic>
        <p:nvPicPr>
          <p:cNvPr id="277" name="Google Shape;277;p28"/>
          <p:cNvPicPr preferRelativeResize="0"/>
          <p:nvPr/>
        </p:nvPicPr>
        <p:blipFill>
          <a:blip r:embed="rId3">
            <a:alphaModFix/>
          </a:blip>
          <a:stretch>
            <a:fillRect/>
          </a:stretch>
        </p:blipFill>
        <p:spPr>
          <a:xfrm>
            <a:off x="6321925" y="1893412"/>
            <a:ext cx="5286301" cy="41849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81"/>
        <p:cNvGrpSpPr/>
        <p:nvPr/>
      </p:nvGrpSpPr>
      <p:grpSpPr>
        <a:xfrm>
          <a:off x="0" y="0"/>
          <a:ext cx="0" cy="0"/>
          <a:chOff x="0" y="0"/>
          <a:chExt cx="0" cy="0"/>
        </a:xfrm>
      </p:grpSpPr>
      <p:sp>
        <p:nvSpPr>
          <p:cNvPr id="282" name="Google Shape;282;p29"/>
          <p:cNvSpPr txBox="1"/>
          <p:nvPr/>
        </p:nvSpPr>
        <p:spPr>
          <a:xfrm>
            <a:off x="571500" y="1639815"/>
            <a:ext cx="5550600" cy="2772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800" b="0" i="0" u="none" strike="noStrike" cap="none">
                <a:solidFill>
                  <a:srgbClr val="64FFDA"/>
                </a:solidFill>
                <a:latin typeface="Poppins SemiBold"/>
                <a:ea typeface="Poppins SemiBold"/>
                <a:cs typeface="Poppins SemiBold"/>
                <a:sym typeface="Poppins SemiBold"/>
              </a:rPr>
              <a:t>Arsitektur Heap</a:t>
            </a:r>
            <a:endParaRPr/>
          </a:p>
        </p:txBody>
      </p:sp>
      <p:sp>
        <p:nvSpPr>
          <p:cNvPr id="283" name="Google Shape;283;p29"/>
          <p:cNvSpPr txBox="1"/>
          <p:nvPr/>
        </p:nvSpPr>
        <p:spPr>
          <a:xfrm>
            <a:off x="571500" y="2116065"/>
            <a:ext cx="5286300" cy="9696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Di dunia komputasi nyata, Priority Queue dibangun murni di atas struktur </a:t>
            </a:r>
            <a:r>
              <a:rPr lang="en-US" sz="1500" b="1" i="0" u="none" strike="noStrike" cap="none">
                <a:solidFill>
                  <a:srgbClr val="8892B0"/>
                </a:solidFill>
                <a:latin typeface="Inter"/>
                <a:ea typeface="Inter"/>
                <a:cs typeface="Inter"/>
                <a:sym typeface="Inter"/>
              </a:rPr>
              <a:t>Binary Heap</a:t>
            </a:r>
            <a:r>
              <a:rPr lang="en-US" sz="1500" b="0" i="0" u="none" strike="noStrike" cap="none">
                <a:solidFill>
                  <a:srgbClr val="8892B0"/>
                </a:solidFill>
                <a:latin typeface="Inter"/>
                <a:ea typeface="Inter"/>
                <a:cs typeface="Inter"/>
                <a:sym typeface="Inter"/>
              </a:rPr>
              <a:t> (sebuah Complete Binary Tree yang memiliki hierarki matematika ketat di Root-nya).</a:t>
            </a:r>
            <a:endParaRPr/>
          </a:p>
        </p:txBody>
      </p:sp>
      <p:sp>
        <p:nvSpPr>
          <p:cNvPr id="284" name="Google Shape;284;p29"/>
          <p:cNvSpPr txBox="1"/>
          <p:nvPr/>
        </p:nvSpPr>
        <p:spPr>
          <a:xfrm>
            <a:off x="603106" y="3418609"/>
            <a:ext cx="104700" cy="2310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285" name="Google Shape;285;p29"/>
          <p:cNvSpPr txBox="1"/>
          <p:nvPr/>
        </p:nvSpPr>
        <p:spPr>
          <a:xfrm>
            <a:off x="804213" y="3428351"/>
            <a:ext cx="4810200" cy="5772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CCD6F6"/>
                </a:solidFill>
                <a:latin typeface="Inter"/>
                <a:ea typeface="Inter"/>
                <a:cs typeface="Inter"/>
                <a:sym typeface="Inter"/>
              </a:rPr>
              <a:t>Akar (Root) selalu memegang elemen terkuat secara mutlak.</a:t>
            </a:r>
            <a:endParaRPr/>
          </a:p>
        </p:txBody>
      </p:sp>
      <p:sp>
        <p:nvSpPr>
          <p:cNvPr id="286" name="Google Shape;286;p29"/>
          <p:cNvSpPr txBox="1"/>
          <p:nvPr/>
        </p:nvSpPr>
        <p:spPr>
          <a:xfrm>
            <a:off x="603106" y="4180609"/>
            <a:ext cx="104700" cy="2310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287" name="Google Shape;287;p29"/>
          <p:cNvSpPr txBox="1"/>
          <p:nvPr/>
        </p:nvSpPr>
        <p:spPr>
          <a:xfrm>
            <a:off x="804213" y="4190351"/>
            <a:ext cx="4810200" cy="2310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CCD6F6"/>
                </a:solidFill>
                <a:latin typeface="Inter"/>
                <a:ea typeface="Inter"/>
                <a:cs typeface="Inter"/>
                <a:sym typeface="Inter"/>
              </a:rPr>
              <a:t>Insert data? Cukup logaritmik </a:t>
            </a:r>
            <a:r>
              <a:rPr lang="en-US" sz="1500" i="1">
                <a:solidFill>
                  <a:srgbClr val="CCD6F6"/>
                </a:solidFill>
                <a:latin typeface="Inter"/>
                <a:ea typeface="Inter"/>
                <a:cs typeface="Inter"/>
                <a:sym typeface="Inter"/>
              </a:rPr>
              <a:t>O</a:t>
            </a:r>
            <a:r>
              <a:rPr lang="en-US" sz="1500">
                <a:solidFill>
                  <a:srgbClr val="CCD6F6"/>
                </a:solidFill>
                <a:latin typeface="Inter"/>
                <a:ea typeface="Inter"/>
                <a:cs typeface="Inter"/>
                <a:sym typeface="Inter"/>
              </a:rPr>
              <a:t> (log </a:t>
            </a:r>
            <a:r>
              <a:rPr lang="en-US" sz="1500" i="1">
                <a:solidFill>
                  <a:srgbClr val="CCD6F6"/>
                </a:solidFill>
                <a:latin typeface="Inter"/>
                <a:ea typeface="Inter"/>
                <a:cs typeface="Inter"/>
                <a:sym typeface="Inter"/>
              </a:rPr>
              <a:t>N</a:t>
            </a:r>
            <a:r>
              <a:rPr lang="en-US" sz="1500">
                <a:solidFill>
                  <a:srgbClr val="CCD6F6"/>
                </a:solidFill>
                <a:latin typeface="Inter"/>
                <a:ea typeface="Inter"/>
                <a:cs typeface="Inter"/>
                <a:sym typeface="Inter"/>
              </a:rPr>
              <a:t>)</a:t>
            </a:r>
            <a:r>
              <a:rPr lang="en-US" sz="1500" b="0" i="0" u="none" strike="noStrike" cap="none">
                <a:solidFill>
                  <a:srgbClr val="CCD6F6"/>
                </a:solidFill>
                <a:latin typeface="Inter"/>
                <a:ea typeface="Inter"/>
                <a:cs typeface="Inter"/>
                <a:sym typeface="Inter"/>
              </a:rPr>
              <a:t>.</a:t>
            </a:r>
            <a:endParaRPr/>
          </a:p>
        </p:txBody>
      </p:sp>
      <p:sp>
        <p:nvSpPr>
          <p:cNvPr id="288" name="Google Shape;288;p29"/>
          <p:cNvSpPr txBox="1"/>
          <p:nvPr/>
        </p:nvSpPr>
        <p:spPr>
          <a:xfrm>
            <a:off x="603106" y="4656859"/>
            <a:ext cx="104700" cy="2310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289" name="Google Shape;289;p29"/>
          <p:cNvSpPr txBox="1"/>
          <p:nvPr/>
        </p:nvSpPr>
        <p:spPr>
          <a:xfrm>
            <a:off x="804213" y="4666601"/>
            <a:ext cx="4810200" cy="2310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CCD6F6"/>
                </a:solidFill>
                <a:latin typeface="Inter"/>
                <a:ea typeface="Inter"/>
                <a:cs typeface="Inter"/>
                <a:sym typeface="Inter"/>
              </a:rPr>
              <a:t>Delete data? Juga logaritmik </a:t>
            </a:r>
            <a:r>
              <a:rPr lang="en-US" sz="1500" i="1">
                <a:solidFill>
                  <a:srgbClr val="CCD6F6"/>
                </a:solidFill>
                <a:latin typeface="Inter"/>
                <a:ea typeface="Inter"/>
                <a:cs typeface="Inter"/>
                <a:sym typeface="Inter"/>
              </a:rPr>
              <a:t>O</a:t>
            </a:r>
            <a:r>
              <a:rPr lang="en-US" sz="1500">
                <a:solidFill>
                  <a:srgbClr val="CCD6F6"/>
                </a:solidFill>
                <a:latin typeface="Inter"/>
                <a:ea typeface="Inter"/>
                <a:cs typeface="Inter"/>
                <a:sym typeface="Inter"/>
              </a:rPr>
              <a:t> (log </a:t>
            </a:r>
            <a:r>
              <a:rPr lang="en-US" sz="1500" i="1">
                <a:solidFill>
                  <a:srgbClr val="CCD6F6"/>
                </a:solidFill>
                <a:latin typeface="Inter"/>
                <a:ea typeface="Inter"/>
                <a:cs typeface="Inter"/>
                <a:sym typeface="Inter"/>
              </a:rPr>
              <a:t>N</a:t>
            </a:r>
            <a:r>
              <a:rPr lang="en-US" sz="1500">
                <a:solidFill>
                  <a:srgbClr val="CCD6F6"/>
                </a:solidFill>
                <a:latin typeface="Inter"/>
                <a:ea typeface="Inter"/>
                <a:cs typeface="Inter"/>
                <a:sym typeface="Inter"/>
              </a:rPr>
              <a:t>)</a:t>
            </a:r>
            <a:r>
              <a:rPr lang="en-US" sz="1500" b="0" i="0" u="none" strike="noStrike" cap="none">
                <a:solidFill>
                  <a:srgbClr val="CCD6F6"/>
                </a:solidFill>
                <a:latin typeface="Inter"/>
                <a:ea typeface="Inter"/>
                <a:cs typeface="Inter"/>
                <a:sym typeface="Inter"/>
              </a:rPr>
              <a:t>.</a:t>
            </a:r>
            <a:endParaRPr/>
          </a:p>
        </p:txBody>
      </p:sp>
      <p:sp>
        <p:nvSpPr>
          <p:cNvPr id="290" name="Google Shape;290;p29"/>
          <p:cNvSpPr txBox="1"/>
          <p:nvPr/>
        </p:nvSpPr>
        <p:spPr>
          <a:xfrm>
            <a:off x="603106" y="5133109"/>
            <a:ext cx="104700" cy="2310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291" name="Google Shape;291;p29"/>
          <p:cNvSpPr txBox="1"/>
          <p:nvPr/>
        </p:nvSpPr>
        <p:spPr>
          <a:xfrm>
            <a:off x="804213" y="5142851"/>
            <a:ext cx="4810200" cy="2310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Sempurna untuk skala raksasa.</a:t>
            </a:r>
            <a:endParaRPr/>
          </a:p>
        </p:txBody>
      </p:sp>
      <p:sp>
        <p:nvSpPr>
          <p:cNvPr id="292" name="Google Shape;292;p29"/>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Solusi Industri: Binary Heap Tree</a:t>
            </a:r>
            <a:endParaRPr/>
          </a:p>
        </p:txBody>
      </p:sp>
      <p:pic>
        <p:nvPicPr>
          <p:cNvPr id="293" name="Google Shape;293;p29"/>
          <p:cNvPicPr preferRelativeResize="0"/>
          <p:nvPr/>
        </p:nvPicPr>
        <p:blipFill>
          <a:blip r:embed="rId3">
            <a:alphaModFix/>
          </a:blip>
          <a:stretch>
            <a:fillRect/>
          </a:stretch>
        </p:blipFill>
        <p:spPr>
          <a:xfrm>
            <a:off x="6122100" y="2476125"/>
            <a:ext cx="5795450" cy="2897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297"/>
        <p:cNvGrpSpPr/>
        <p:nvPr/>
      </p:nvGrpSpPr>
      <p:grpSpPr>
        <a:xfrm>
          <a:off x="0" y="0"/>
          <a:ext cx="0" cy="0"/>
          <a:chOff x="0" y="0"/>
          <a:chExt cx="0" cy="0"/>
        </a:xfrm>
      </p:grpSpPr>
      <p:pic>
        <p:nvPicPr>
          <p:cNvPr id="298" name="Google Shape;298;p30" descr="image.png"/>
          <p:cNvPicPr preferRelativeResize="0"/>
          <p:nvPr/>
        </p:nvPicPr>
        <p:blipFill rotWithShape="1">
          <a:blip r:embed="rId3">
            <a:alphaModFix/>
          </a:blip>
          <a:srcRect/>
          <a:stretch/>
        </p:blipFill>
        <p:spPr>
          <a:xfrm>
            <a:off x="571500" y="1143000"/>
            <a:ext cx="5286375" cy="5143500"/>
          </a:xfrm>
          <a:prstGeom prst="rect">
            <a:avLst/>
          </a:prstGeom>
          <a:noFill/>
          <a:ln>
            <a:noFill/>
          </a:ln>
        </p:spPr>
      </p:pic>
      <p:pic>
        <p:nvPicPr>
          <p:cNvPr id="299" name="Google Shape;299;p30" descr="image.png"/>
          <p:cNvPicPr preferRelativeResize="0"/>
          <p:nvPr/>
        </p:nvPicPr>
        <p:blipFill rotWithShape="1">
          <a:blip r:embed="rId4">
            <a:alphaModFix/>
          </a:blip>
          <a:srcRect/>
          <a:stretch/>
        </p:blipFill>
        <p:spPr>
          <a:xfrm>
            <a:off x="6334125" y="1143000"/>
            <a:ext cx="5286375" cy="5143500"/>
          </a:xfrm>
          <a:prstGeom prst="rect">
            <a:avLst/>
          </a:prstGeom>
          <a:noFill/>
          <a:ln>
            <a:noFill/>
          </a:ln>
        </p:spPr>
      </p:pic>
      <p:sp>
        <p:nvSpPr>
          <p:cNvPr id="300" name="Google Shape;300;p30"/>
          <p:cNvSpPr txBox="1"/>
          <p:nvPr/>
        </p:nvSpPr>
        <p:spPr>
          <a:xfrm>
            <a:off x="1088664" y="1582232"/>
            <a:ext cx="4730700" cy="323100"/>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0" i="0" u="none" strike="noStrike" cap="none">
                <a:solidFill>
                  <a:srgbClr val="64FFDA"/>
                </a:solidFill>
                <a:latin typeface="Poppins SemiBold"/>
                <a:ea typeface="Poppins SemiBold"/>
                <a:cs typeface="Poppins SemiBold"/>
                <a:sym typeface="Poppins SemiBold"/>
              </a:rPr>
              <a:t>Kelebihan Resolutif</a:t>
            </a:r>
            <a:endParaRPr/>
          </a:p>
        </p:txBody>
      </p:sp>
      <p:sp>
        <p:nvSpPr>
          <p:cNvPr id="301" name="Google Shape;301;p30"/>
          <p:cNvSpPr txBox="1"/>
          <p:nvPr/>
        </p:nvSpPr>
        <p:spPr>
          <a:xfrm>
            <a:off x="6870772" y="1543266"/>
            <a:ext cx="4730700" cy="323100"/>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0" i="0" u="none" strike="noStrike" cap="none">
                <a:solidFill>
                  <a:srgbClr val="EF4444"/>
                </a:solidFill>
                <a:latin typeface="Poppins SemiBold"/>
                <a:ea typeface="Poppins SemiBold"/>
                <a:cs typeface="Poppins SemiBold"/>
                <a:sym typeface="Poppins SemiBold"/>
              </a:rPr>
              <a:t>Kelemahan Dasar</a:t>
            </a:r>
            <a:endParaRPr/>
          </a:p>
        </p:txBody>
      </p:sp>
      <p:pic>
        <p:nvPicPr>
          <p:cNvPr id="302" name="Google Shape;302;p30" descr="image.png"/>
          <p:cNvPicPr preferRelativeResize="0"/>
          <p:nvPr/>
        </p:nvPicPr>
        <p:blipFill rotWithShape="1">
          <a:blip r:embed="rId5">
            <a:alphaModFix/>
          </a:blip>
          <a:srcRect/>
          <a:stretch/>
        </p:blipFill>
        <p:spPr>
          <a:xfrm>
            <a:off x="962025" y="1590675"/>
            <a:ext cx="266700" cy="266700"/>
          </a:xfrm>
          <a:prstGeom prst="rect">
            <a:avLst/>
          </a:prstGeom>
          <a:noFill/>
          <a:ln>
            <a:noFill/>
          </a:ln>
        </p:spPr>
      </p:pic>
      <p:sp>
        <p:nvSpPr>
          <p:cNvPr id="303" name="Google Shape;303;p30"/>
          <p:cNvSpPr txBox="1"/>
          <p:nvPr/>
        </p:nvSpPr>
        <p:spPr>
          <a:xfrm>
            <a:off x="1013114" y="2266950"/>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304" name="Google Shape;304;p30"/>
          <p:cNvSpPr txBox="1"/>
          <p:nvPr/>
        </p:nvSpPr>
        <p:spPr>
          <a:xfrm>
            <a:off x="1243445" y="2266950"/>
            <a:ext cx="4029000" cy="12699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Efisiensi Masalah Kritis:</a:t>
            </a:r>
            <a:r>
              <a:rPr lang="en-US" sz="1500" b="0" i="0" u="none" strike="noStrike" cap="none">
                <a:solidFill>
                  <a:srgbClr val="CCD6F6"/>
                </a:solidFill>
                <a:latin typeface="Inter"/>
                <a:ea typeface="Inter"/>
                <a:cs typeface="Inter"/>
                <a:sym typeface="Inter"/>
              </a:rPr>
              <a:t> Memungkinkan penyelesaian tugas-tugas krusial sistem operasi atau jaringan mendahului tumpukan task reguler.</a:t>
            </a:r>
            <a:endParaRPr/>
          </a:p>
        </p:txBody>
      </p:sp>
      <p:sp>
        <p:nvSpPr>
          <p:cNvPr id="305" name="Google Shape;305;p30"/>
          <p:cNvSpPr txBox="1"/>
          <p:nvPr/>
        </p:nvSpPr>
        <p:spPr>
          <a:xfrm>
            <a:off x="1013114" y="3629674"/>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306" name="Google Shape;306;p30"/>
          <p:cNvSpPr txBox="1"/>
          <p:nvPr/>
        </p:nvSpPr>
        <p:spPr>
          <a:xfrm>
            <a:off x="1243445" y="3629674"/>
            <a:ext cx="4029000" cy="12699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CCD6F6"/>
                </a:solidFill>
                <a:latin typeface="Inter"/>
                <a:ea typeface="Inter"/>
                <a:cs typeface="Inter"/>
                <a:sym typeface="Inter"/>
              </a:rPr>
              <a:t>Berperan sebagai fondasi untuk algoritma graf super penting (Algoritma Dijkstra untuk Google Maps, Algoritma Prim/Kruskal).</a:t>
            </a:r>
            <a:endParaRPr/>
          </a:p>
        </p:txBody>
      </p:sp>
      <p:pic>
        <p:nvPicPr>
          <p:cNvPr id="307" name="Google Shape;307;p30" descr="image.png"/>
          <p:cNvPicPr preferRelativeResize="0"/>
          <p:nvPr/>
        </p:nvPicPr>
        <p:blipFill rotWithShape="1">
          <a:blip r:embed="rId6">
            <a:alphaModFix/>
          </a:blip>
          <a:srcRect/>
          <a:stretch/>
        </p:blipFill>
        <p:spPr>
          <a:xfrm>
            <a:off x="6724650" y="1590675"/>
            <a:ext cx="266700" cy="266700"/>
          </a:xfrm>
          <a:prstGeom prst="rect">
            <a:avLst/>
          </a:prstGeom>
          <a:noFill/>
          <a:ln>
            <a:noFill/>
          </a:ln>
        </p:spPr>
      </p:pic>
      <p:sp>
        <p:nvSpPr>
          <p:cNvPr id="308" name="Google Shape;308;p30"/>
          <p:cNvSpPr txBox="1"/>
          <p:nvPr/>
        </p:nvSpPr>
        <p:spPr>
          <a:xfrm>
            <a:off x="6814705" y="2266950"/>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309" name="Google Shape;309;p30"/>
          <p:cNvSpPr txBox="1"/>
          <p:nvPr/>
        </p:nvSpPr>
        <p:spPr>
          <a:xfrm>
            <a:off x="7054778" y="2266950"/>
            <a:ext cx="4029000" cy="16161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Overhead Komputasi:</a:t>
            </a:r>
            <a:r>
              <a:rPr lang="en-US" sz="1500" b="0" i="0" u="none" strike="noStrike" cap="none">
                <a:solidFill>
                  <a:srgbClr val="CCD6F6"/>
                </a:solidFill>
                <a:latin typeface="Inter"/>
                <a:ea typeface="Inter"/>
                <a:cs typeface="Inter"/>
                <a:sym typeface="Inter"/>
              </a:rPr>
              <a:t> Proses "menggeser" atau "menata ulang pohon Heap" saat terjadi Insert/Delete terus-menerus memakan siklus CPU yang signifikan dibanding Queue primitif O(1).</a:t>
            </a:r>
            <a:endParaRPr/>
          </a:p>
        </p:txBody>
      </p:sp>
      <p:sp>
        <p:nvSpPr>
          <p:cNvPr id="310" name="Google Shape;310;p30"/>
          <p:cNvSpPr txBox="1"/>
          <p:nvPr/>
        </p:nvSpPr>
        <p:spPr>
          <a:xfrm>
            <a:off x="6814705" y="3983615"/>
            <a:ext cx="104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CD6F6"/>
                </a:solidFill>
                <a:latin typeface="Inter"/>
                <a:ea typeface="Inter"/>
                <a:cs typeface="Inter"/>
                <a:sym typeface="Inter"/>
              </a:rPr>
              <a:t>•</a:t>
            </a:r>
            <a:endParaRPr/>
          </a:p>
        </p:txBody>
      </p:sp>
      <p:sp>
        <p:nvSpPr>
          <p:cNvPr id="311" name="Google Shape;311;p30"/>
          <p:cNvSpPr txBox="1"/>
          <p:nvPr/>
        </p:nvSpPr>
        <p:spPr>
          <a:xfrm>
            <a:off x="7054778" y="3983615"/>
            <a:ext cx="4029000" cy="1269900"/>
          </a:xfrm>
          <a:prstGeom prst="rect">
            <a:avLst/>
          </a:prstGeom>
          <a:noFill/>
          <a:ln>
            <a:noFill/>
          </a:ln>
        </p:spPr>
        <p:txBody>
          <a:bodyPr spcFirstLastPara="1" wrap="square" lIns="104775"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Risiko Starvation:</a:t>
            </a:r>
            <a:r>
              <a:rPr lang="en-US" sz="1500" b="0" i="0" u="none" strike="noStrike" cap="none">
                <a:solidFill>
                  <a:srgbClr val="CCD6F6"/>
                </a:solidFill>
                <a:latin typeface="Inter"/>
                <a:ea typeface="Inter"/>
                <a:cs typeface="Inter"/>
                <a:sym typeface="Inter"/>
              </a:rPr>
              <a:t> Elemen berprioritas sangat rendah mungkin tidak akan pernah diproses jika elemen prioritas tinggi terus-menerus masuk membanjiri antrean.</a:t>
            </a:r>
            <a:endParaRPr/>
          </a:p>
        </p:txBody>
      </p:sp>
      <p:sp>
        <p:nvSpPr>
          <p:cNvPr id="312" name="Google Shape;312;p3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Evaluasi Karakteristik Priority Queue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316"/>
        <p:cNvGrpSpPr/>
        <p:nvPr/>
      </p:nvGrpSpPr>
      <p:grpSpPr>
        <a:xfrm>
          <a:off x="0" y="0"/>
          <a:ext cx="0" cy="0"/>
          <a:chOff x="0" y="0"/>
          <a:chExt cx="0" cy="0"/>
        </a:xfrm>
      </p:grpSpPr>
      <p:sp>
        <p:nvSpPr>
          <p:cNvPr id="317" name="Google Shape;317;p31"/>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Implementasi C++ (Library Standard)</a:t>
            </a:r>
            <a:endParaRPr/>
          </a:p>
        </p:txBody>
      </p:sp>
      <p:sp>
        <p:nvSpPr>
          <p:cNvPr id="318" name="Google Shape;318;p31"/>
          <p:cNvSpPr txBox="1"/>
          <p:nvPr/>
        </p:nvSpPr>
        <p:spPr>
          <a:xfrm>
            <a:off x="571500" y="1539175"/>
            <a:ext cx="10865100" cy="4587000"/>
          </a:xfrm>
          <a:prstGeom prst="rect">
            <a:avLst/>
          </a:prstGeom>
          <a:solidFill>
            <a:srgbClr val="020C1B"/>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a:solidFill>
                  <a:srgbClr val="C678DD"/>
                </a:solidFill>
                <a:latin typeface="Fira Code"/>
                <a:ea typeface="Fira Code"/>
                <a:cs typeface="Fira Code"/>
                <a:sym typeface="Fira Code"/>
              </a:rPr>
              <a:t>#include</a:t>
            </a:r>
            <a:r>
              <a:rPr lang="en-US" sz="1300">
                <a:solidFill>
                  <a:srgbClr val="64FFDA"/>
                </a:solidFill>
                <a:latin typeface="Fira Code"/>
                <a:ea typeface="Fira Code"/>
                <a:cs typeface="Fira Code"/>
                <a:sym typeface="Fira Code"/>
              </a:rPr>
              <a:t> &lt;iostream&gt;</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C678DD"/>
                </a:solidFill>
                <a:latin typeface="Fira Code"/>
                <a:ea typeface="Fira Code"/>
                <a:cs typeface="Fira Code"/>
                <a:sym typeface="Fira Code"/>
              </a:rPr>
              <a:t>#include</a:t>
            </a:r>
            <a:r>
              <a:rPr lang="en-US" sz="1300">
                <a:solidFill>
                  <a:srgbClr val="64FFDA"/>
                </a:solidFill>
                <a:latin typeface="Fira Code"/>
                <a:ea typeface="Fira Code"/>
                <a:cs typeface="Fira Code"/>
                <a:sym typeface="Fira Code"/>
              </a:rPr>
              <a:t> &lt;queue&gt; </a:t>
            </a:r>
            <a:r>
              <a:rPr lang="en-US" sz="1300" i="1">
                <a:solidFill>
                  <a:srgbClr val="5C6370"/>
                </a:solidFill>
                <a:latin typeface="Fira Code"/>
                <a:ea typeface="Fira Code"/>
                <a:cs typeface="Fira Code"/>
                <a:sym typeface="Fira Code"/>
              </a:rPr>
              <a:t>// Library mengandung priority_queue</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C678DD"/>
                </a:solidFill>
                <a:latin typeface="Fira Code"/>
                <a:ea typeface="Fira Code"/>
                <a:cs typeface="Fira Code"/>
                <a:sym typeface="Fira Code"/>
              </a:rPr>
              <a:t>using namespace</a:t>
            </a:r>
            <a:r>
              <a:rPr lang="en-US" sz="1300">
                <a:solidFill>
                  <a:srgbClr val="64FFDA"/>
                </a:solidFill>
                <a:latin typeface="Fira Code"/>
                <a:ea typeface="Fira Code"/>
                <a:cs typeface="Fira Code"/>
                <a:sym typeface="Fira Code"/>
              </a:rPr>
              <a:t> std;</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E5C07B"/>
                </a:solidFill>
                <a:latin typeface="Fira Code"/>
                <a:ea typeface="Fira Code"/>
                <a:cs typeface="Fira Code"/>
                <a:sym typeface="Fira Code"/>
              </a:rPr>
              <a:t>int</a:t>
            </a:r>
            <a:r>
              <a:rPr lang="en-US" sz="1300">
                <a:solidFill>
                  <a:srgbClr val="64FFDA"/>
                </a:solidFill>
                <a:latin typeface="Fira Code"/>
                <a:ea typeface="Fira Code"/>
                <a:cs typeface="Fira Code"/>
                <a:sym typeface="Fira Code"/>
              </a:rPr>
              <a:t> main() {</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r>
              <a:rPr lang="en-US" sz="1300" i="1">
                <a:solidFill>
                  <a:srgbClr val="5C6370"/>
                </a:solidFill>
                <a:latin typeface="Fira Code"/>
                <a:ea typeface="Fira Code"/>
                <a:cs typeface="Fira Code"/>
                <a:sym typeface="Fira Code"/>
              </a:rPr>
              <a:t>// Deklarasi Default (Max-Heap / Descending Priority)</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priority_queue&lt;</a:t>
            </a:r>
            <a:r>
              <a:rPr lang="en-US" sz="1300">
                <a:solidFill>
                  <a:srgbClr val="E5C07B"/>
                </a:solidFill>
                <a:latin typeface="Fira Code"/>
                <a:ea typeface="Fira Code"/>
                <a:cs typeface="Fira Code"/>
                <a:sym typeface="Fira Code"/>
              </a:rPr>
              <a:t>int</a:t>
            </a:r>
            <a:r>
              <a:rPr lang="en-US" sz="1300">
                <a:solidFill>
                  <a:srgbClr val="64FFDA"/>
                </a:solidFill>
                <a:latin typeface="Fira Code"/>
                <a:ea typeface="Fira Code"/>
                <a:cs typeface="Fira Code"/>
                <a:sym typeface="Fira Code"/>
              </a:rPr>
              <a:t>&gt; pq;</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r>
              <a:rPr lang="en-US" sz="1300" i="1">
                <a:solidFill>
                  <a:srgbClr val="5C6370"/>
                </a:solidFill>
                <a:latin typeface="Fira Code"/>
                <a:ea typeface="Fira Code"/>
                <a:cs typeface="Fira Code"/>
                <a:sym typeface="Fira Code"/>
              </a:rPr>
              <a:t>// Memasukkan data acak (Tidak terurut)</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pq.push(</a:t>
            </a:r>
            <a:r>
              <a:rPr lang="en-US" sz="1300">
                <a:solidFill>
                  <a:srgbClr val="98C379"/>
                </a:solidFill>
                <a:latin typeface="Fira Code"/>
                <a:ea typeface="Fira Code"/>
                <a:cs typeface="Fira Code"/>
                <a:sym typeface="Fira Code"/>
              </a:rPr>
              <a:t>10</a:t>
            </a:r>
            <a:r>
              <a:rPr lang="en-US" sz="1300">
                <a:solidFill>
                  <a:srgbClr val="64FFDA"/>
                </a:solidFill>
                <a:latin typeface="Fira Code"/>
                <a:ea typeface="Fira Code"/>
                <a:cs typeface="Fira Code"/>
                <a:sym typeface="Fira Code"/>
              </a:rPr>
              <a:t>);</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pq.push(</a:t>
            </a:r>
            <a:r>
              <a:rPr lang="en-US" sz="1300">
                <a:solidFill>
                  <a:srgbClr val="98C379"/>
                </a:solidFill>
                <a:latin typeface="Fira Code"/>
                <a:ea typeface="Fira Code"/>
                <a:cs typeface="Fira Code"/>
                <a:sym typeface="Fira Code"/>
              </a:rPr>
              <a:t>50</a:t>
            </a:r>
            <a:r>
              <a:rPr lang="en-US" sz="1300">
                <a:solidFill>
                  <a:srgbClr val="64FFDA"/>
                </a:solidFill>
                <a:latin typeface="Fira Code"/>
                <a:ea typeface="Fira Code"/>
                <a:cs typeface="Fira Code"/>
                <a:sym typeface="Fira Code"/>
              </a:rPr>
              <a:t>);  </a:t>
            </a:r>
            <a:r>
              <a:rPr lang="en-US" sz="1300" i="1">
                <a:solidFill>
                  <a:srgbClr val="5C6370"/>
                </a:solidFill>
                <a:latin typeface="Fira Code"/>
                <a:ea typeface="Fira Code"/>
                <a:cs typeface="Fira Code"/>
                <a:sym typeface="Fira Code"/>
              </a:rPr>
              <a:t>// Masuk belakangan, tapi angka terbesar</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pq.push(</a:t>
            </a:r>
            <a:r>
              <a:rPr lang="en-US" sz="1300">
                <a:solidFill>
                  <a:srgbClr val="98C379"/>
                </a:solidFill>
                <a:latin typeface="Fira Code"/>
                <a:ea typeface="Fira Code"/>
                <a:cs typeface="Fira Code"/>
                <a:sym typeface="Fira Code"/>
              </a:rPr>
              <a:t>20</a:t>
            </a:r>
            <a:r>
              <a:rPr lang="en-US" sz="1300">
                <a:solidFill>
                  <a:srgbClr val="64FFDA"/>
                </a:solidFill>
                <a:latin typeface="Fira Code"/>
                <a:ea typeface="Fira Code"/>
                <a:cs typeface="Fira Code"/>
                <a:sym typeface="Fira Code"/>
              </a:rPr>
              <a:t>);</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r>
              <a:rPr lang="en-US" sz="1300">
                <a:solidFill>
                  <a:srgbClr val="C678DD"/>
                </a:solidFill>
                <a:latin typeface="Fira Code"/>
                <a:ea typeface="Fira Code"/>
                <a:cs typeface="Fira Code"/>
                <a:sym typeface="Fira Code"/>
              </a:rPr>
              <a:t>cout</a:t>
            </a:r>
            <a:r>
              <a:rPr lang="en-US" sz="1300">
                <a:solidFill>
                  <a:srgbClr val="64FFDA"/>
                </a:solidFill>
                <a:latin typeface="Fira Code"/>
                <a:ea typeface="Fira Code"/>
                <a:cs typeface="Fira Code"/>
                <a:sym typeface="Fira Code"/>
              </a:rPr>
              <a:t> &lt;&lt; "Elemen Terkuat (Top): " &lt;&lt; pq.top() &lt;&lt; endl; </a:t>
            </a:r>
            <a:r>
              <a:rPr lang="en-US" sz="1300" i="1">
                <a:solidFill>
                  <a:srgbClr val="5C6370"/>
                </a:solidFill>
                <a:latin typeface="Fira Code"/>
                <a:ea typeface="Fira Code"/>
                <a:cs typeface="Fira Code"/>
                <a:sym typeface="Fira Code"/>
              </a:rPr>
              <a:t>// Pasti Output: 50</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r>
              <a:rPr lang="en-US" sz="1300" i="1">
                <a:solidFill>
                  <a:srgbClr val="5C6370"/>
                </a:solidFill>
                <a:latin typeface="Fira Code"/>
                <a:ea typeface="Fira Code"/>
                <a:cs typeface="Fira Code"/>
                <a:sym typeface="Fira Code"/>
              </a:rPr>
              <a:t>// Membaca dan menghapus elemen berdasar prioritas</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r>
              <a:rPr lang="en-US" sz="1300">
                <a:solidFill>
                  <a:srgbClr val="C678DD"/>
                </a:solidFill>
                <a:latin typeface="Fira Code"/>
                <a:ea typeface="Fira Code"/>
                <a:cs typeface="Fira Code"/>
                <a:sym typeface="Fira Code"/>
              </a:rPr>
              <a:t>while</a:t>
            </a:r>
            <a:r>
              <a:rPr lang="en-US" sz="1300">
                <a:solidFill>
                  <a:srgbClr val="64FFDA"/>
                </a:solidFill>
                <a:latin typeface="Fira Code"/>
                <a:ea typeface="Fira Code"/>
                <a:cs typeface="Fira Code"/>
                <a:sym typeface="Fira Code"/>
              </a:rPr>
              <a:t> (!pq.empty()) {</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r>
              <a:rPr lang="en-US" sz="1300">
                <a:solidFill>
                  <a:srgbClr val="C678DD"/>
                </a:solidFill>
                <a:latin typeface="Fira Code"/>
                <a:ea typeface="Fira Code"/>
                <a:cs typeface="Fira Code"/>
                <a:sym typeface="Fira Code"/>
              </a:rPr>
              <a:t>cout</a:t>
            </a:r>
            <a:r>
              <a:rPr lang="en-US" sz="1300">
                <a:solidFill>
                  <a:srgbClr val="64FFDA"/>
                </a:solidFill>
                <a:latin typeface="Fira Code"/>
                <a:ea typeface="Fira Code"/>
                <a:cs typeface="Fira Code"/>
                <a:sym typeface="Fira Code"/>
              </a:rPr>
              <a:t> &lt;&lt; pq.top() &lt;&lt; " "; </a:t>
            </a:r>
            <a:r>
              <a:rPr lang="en-US" sz="1300" i="1">
                <a:solidFill>
                  <a:srgbClr val="5C6370"/>
                </a:solidFill>
                <a:latin typeface="Fira Code"/>
                <a:ea typeface="Fira Code"/>
                <a:cs typeface="Fira Code"/>
                <a:sym typeface="Fira Code"/>
              </a:rPr>
              <a:t>// Output: 50 20 10</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pq.pop();                </a:t>
            </a:r>
            <a:r>
              <a:rPr lang="en-US" sz="1300" i="1">
                <a:solidFill>
                  <a:srgbClr val="5C6370"/>
                </a:solidFill>
                <a:latin typeface="Fira Code"/>
                <a:ea typeface="Fira Code"/>
                <a:cs typeface="Fira Code"/>
                <a:sym typeface="Fira Code"/>
              </a:rPr>
              <a:t>// Buang Root (Elemen Max) lalu susun ulang Heap otomatis</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endParaRPr sz="13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300">
                <a:solidFill>
                  <a:srgbClr val="64FFDA"/>
                </a:solidFill>
                <a:latin typeface="Fira Code"/>
                <a:ea typeface="Fira Code"/>
                <a:cs typeface="Fira Code"/>
                <a:sym typeface="Fira Code"/>
              </a:rPr>
              <a:t>    </a:t>
            </a:r>
            <a:r>
              <a:rPr lang="en-US" sz="1300">
                <a:solidFill>
                  <a:srgbClr val="C678DD"/>
                </a:solidFill>
                <a:latin typeface="Fira Code"/>
                <a:ea typeface="Fira Code"/>
                <a:cs typeface="Fira Code"/>
                <a:sym typeface="Fira Code"/>
              </a:rPr>
              <a:t>return</a:t>
            </a:r>
            <a:r>
              <a:rPr lang="en-US" sz="1300">
                <a:solidFill>
                  <a:srgbClr val="64FFDA"/>
                </a:solidFill>
                <a:latin typeface="Fira Code"/>
                <a:ea typeface="Fira Code"/>
                <a:cs typeface="Fira Code"/>
                <a:sym typeface="Fira Code"/>
              </a:rPr>
              <a:t> </a:t>
            </a:r>
            <a:r>
              <a:rPr lang="en-US" sz="1300">
                <a:solidFill>
                  <a:srgbClr val="98C379"/>
                </a:solidFill>
                <a:latin typeface="Fira Code"/>
                <a:ea typeface="Fira Code"/>
                <a:cs typeface="Fira Code"/>
                <a:sym typeface="Fira Code"/>
              </a:rPr>
              <a:t>0</a:t>
            </a:r>
            <a:r>
              <a:rPr lang="en-US" sz="1300">
                <a:solidFill>
                  <a:srgbClr val="64FFDA"/>
                </a:solidFill>
                <a:latin typeface="Fira Code"/>
                <a:ea typeface="Fira Code"/>
                <a:cs typeface="Fira Code"/>
                <a:sym typeface="Fira Code"/>
              </a:rPr>
              <a:t>;</a:t>
            </a:r>
            <a:endParaRPr sz="1300">
              <a:solidFill>
                <a:srgbClr val="64FFDA"/>
              </a:solidFill>
              <a:latin typeface="Fira Code"/>
              <a:ea typeface="Fira Code"/>
              <a:cs typeface="Fira Code"/>
              <a:sym typeface="Fira Code"/>
            </a:endParaRPr>
          </a:p>
          <a:p>
            <a:pPr marL="190500" marR="190500" lvl="0" indent="0" algn="l" rtl="0">
              <a:lnSpc>
                <a:spcPct val="150000"/>
              </a:lnSpc>
              <a:spcBef>
                <a:spcPts val="0"/>
              </a:spcBef>
              <a:spcAft>
                <a:spcPts val="1500"/>
              </a:spcAft>
              <a:buNone/>
            </a:pPr>
            <a:r>
              <a:rPr lang="en-US" sz="1300">
                <a:solidFill>
                  <a:srgbClr val="64FFDA"/>
                </a:solidFill>
                <a:latin typeface="Fira Code"/>
                <a:ea typeface="Fira Code"/>
                <a:cs typeface="Fira Code"/>
                <a:sym typeface="Fira Code"/>
              </a:rPr>
              <a:t>}</a:t>
            </a:r>
            <a:endParaRPr sz="1300">
              <a:solidFill>
                <a:srgbClr val="64FFDA"/>
              </a:solidFill>
              <a:latin typeface="Fira Code"/>
              <a:ea typeface="Fira Code"/>
              <a:cs typeface="Fira Code"/>
              <a:sym typeface="Fira Cod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322"/>
        <p:cNvGrpSpPr/>
        <p:nvPr/>
      </p:nvGrpSpPr>
      <p:grpSpPr>
        <a:xfrm>
          <a:off x="0" y="0"/>
          <a:ext cx="0" cy="0"/>
          <a:chOff x="0" y="0"/>
          <a:chExt cx="0" cy="0"/>
        </a:xfrm>
      </p:grpSpPr>
      <p:pic>
        <p:nvPicPr>
          <p:cNvPr id="323" name="Google Shape;323;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4" name="Google Shape;324;p32"/>
          <p:cNvSpPr txBox="1"/>
          <p:nvPr/>
        </p:nvSpPr>
        <p:spPr>
          <a:xfrm>
            <a:off x="845343" y="1956494"/>
            <a:ext cx="10501312"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FD700"/>
                </a:solidFill>
                <a:latin typeface="Poppins"/>
                <a:ea typeface="Poppins"/>
                <a:cs typeface="Poppins"/>
                <a:sym typeface="Poppins"/>
              </a:rPr>
              <a:t>3. Komparasi Konseptual Struktur</a:t>
            </a:r>
            <a:endParaRPr/>
          </a:p>
        </p:txBody>
      </p:sp>
      <p:sp>
        <p:nvSpPr>
          <p:cNvPr id="325" name="Google Shape;325;p32"/>
          <p:cNvSpPr txBox="1"/>
          <p:nvPr/>
        </p:nvSpPr>
        <p:spPr>
          <a:xfrm>
            <a:off x="2286000" y="3004244"/>
            <a:ext cx="7620000" cy="1097012"/>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CCD6F6"/>
                </a:solidFill>
                <a:latin typeface="Inter"/>
                <a:ea typeface="Inter"/>
                <a:cs typeface="Inter"/>
                <a:sym typeface="Inter"/>
              </a:rPr>
              <a:t>Memetakan ruang perbedaan spesifik antara Standard Queue, Double Ended Queue, dan Priority Queue untuk identifikasi solusi sistem informasi logis yang presisi.</a:t>
            </a:r>
            <a:endParaRPr/>
          </a:p>
        </p:txBody>
      </p:sp>
      <p:sp>
        <p:nvSpPr>
          <p:cNvPr id="326" name="Google Shape;326;p32"/>
          <p:cNvSpPr/>
          <p:nvPr/>
        </p:nvSpPr>
        <p:spPr>
          <a:xfrm>
            <a:off x="5381625" y="4482256"/>
            <a:ext cx="1428750" cy="38100"/>
          </a:xfrm>
          <a:prstGeom prst="rect">
            <a:avLst/>
          </a:prstGeom>
          <a:solidFill>
            <a:srgbClr val="64FF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330"/>
        <p:cNvGrpSpPr/>
        <p:nvPr/>
      </p:nvGrpSpPr>
      <p:grpSpPr>
        <a:xfrm>
          <a:off x="0" y="0"/>
          <a:ext cx="0" cy="0"/>
          <a:chOff x="0" y="0"/>
          <a:chExt cx="0" cy="0"/>
        </a:xfrm>
      </p:grpSpPr>
      <p:pic>
        <p:nvPicPr>
          <p:cNvPr id="331" name="Google Shape;331;p33" descr="image.png"/>
          <p:cNvPicPr preferRelativeResize="0"/>
          <p:nvPr/>
        </p:nvPicPr>
        <p:blipFill rotWithShape="1">
          <a:blip r:embed="rId3">
            <a:alphaModFix/>
          </a:blip>
          <a:srcRect/>
          <a:stretch/>
        </p:blipFill>
        <p:spPr>
          <a:xfrm>
            <a:off x="571500" y="1466242"/>
            <a:ext cx="11049000" cy="3152775"/>
          </a:xfrm>
          <a:prstGeom prst="rect">
            <a:avLst/>
          </a:prstGeom>
          <a:noFill/>
          <a:ln>
            <a:noFill/>
          </a:ln>
        </p:spPr>
      </p:pic>
      <p:graphicFrame>
        <p:nvGraphicFramePr>
          <p:cNvPr id="332" name="Google Shape;332;p33"/>
          <p:cNvGraphicFramePr/>
          <p:nvPr/>
        </p:nvGraphicFramePr>
        <p:xfrm>
          <a:off x="581025" y="1475767"/>
          <a:ext cx="3000000" cy="3000000"/>
        </p:xfrm>
        <a:graphic>
          <a:graphicData uri="http://schemas.openxmlformats.org/drawingml/2006/table">
            <a:tbl>
              <a:tblPr firstRow="1" bandRow="1">
                <a:noFill/>
                <a:tableStyleId>{911CAA84-FF34-4053-83B9-34899810A1EA}</a:tableStyleId>
              </a:tblPr>
              <a:tblGrid>
                <a:gridCol w="2429925"/>
                <a:gridCol w="2979250"/>
                <a:gridCol w="5620800"/>
              </a:tblGrid>
              <a:tr h="522275">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Parameter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Standard Queue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Deque (Double Ended Queue)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522275">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Arsitektur Akses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Satu arah (Unidirectional)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Dua arah (Bidirectional)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522275">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Aturan Penyisipan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Hanya dari Rear (Belakang)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Dari Front (Depan) DAN Rear (Belakang)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522275">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Aturan Penghapusan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Hanya dari Front (Depan)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Dari Front (Depan) DAN Rear (Belakang)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522275">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Kepatuhan Aturan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Murni Strict FIFO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Bisa bertindak sebagai FIFO, LIFO, atau campuran bebas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5223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Penggunaan Memori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Statis / Rendah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Sedikit lebih tinggi (manajemen pointer dua arah)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bl>
          </a:graphicData>
        </a:graphic>
      </p:graphicFrame>
      <p:sp>
        <p:nvSpPr>
          <p:cNvPr id="333" name="Google Shape;333;p33"/>
          <p:cNvSpPr/>
          <p:nvPr/>
        </p:nvSpPr>
        <p:spPr>
          <a:xfrm>
            <a:off x="581025" y="2032979"/>
            <a:ext cx="2430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4" name="Google Shape;334;p33"/>
          <p:cNvSpPr/>
          <p:nvPr/>
        </p:nvSpPr>
        <p:spPr>
          <a:xfrm>
            <a:off x="3010941" y="2032979"/>
            <a:ext cx="29793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5" name="Google Shape;335;p33"/>
          <p:cNvSpPr/>
          <p:nvPr/>
        </p:nvSpPr>
        <p:spPr>
          <a:xfrm>
            <a:off x="5990183" y="2032979"/>
            <a:ext cx="5620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6" name="Google Shape;336;p33"/>
          <p:cNvSpPr/>
          <p:nvPr/>
        </p:nvSpPr>
        <p:spPr>
          <a:xfrm>
            <a:off x="581025" y="2547329"/>
            <a:ext cx="2430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7" name="Google Shape;337;p33"/>
          <p:cNvSpPr/>
          <p:nvPr/>
        </p:nvSpPr>
        <p:spPr>
          <a:xfrm>
            <a:off x="3010941" y="2547329"/>
            <a:ext cx="29793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8" name="Google Shape;338;p33"/>
          <p:cNvSpPr/>
          <p:nvPr/>
        </p:nvSpPr>
        <p:spPr>
          <a:xfrm>
            <a:off x="5990183" y="2547329"/>
            <a:ext cx="5620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9" name="Google Shape;339;p33"/>
          <p:cNvSpPr/>
          <p:nvPr/>
        </p:nvSpPr>
        <p:spPr>
          <a:xfrm>
            <a:off x="581025" y="3061679"/>
            <a:ext cx="2430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0" name="Google Shape;340;p33"/>
          <p:cNvSpPr/>
          <p:nvPr/>
        </p:nvSpPr>
        <p:spPr>
          <a:xfrm>
            <a:off x="3010941" y="3061679"/>
            <a:ext cx="29793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33"/>
          <p:cNvSpPr/>
          <p:nvPr/>
        </p:nvSpPr>
        <p:spPr>
          <a:xfrm>
            <a:off x="5990183" y="3061679"/>
            <a:ext cx="5620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33"/>
          <p:cNvSpPr/>
          <p:nvPr/>
        </p:nvSpPr>
        <p:spPr>
          <a:xfrm>
            <a:off x="581025" y="3576029"/>
            <a:ext cx="2430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33"/>
          <p:cNvSpPr/>
          <p:nvPr/>
        </p:nvSpPr>
        <p:spPr>
          <a:xfrm>
            <a:off x="3010941" y="3576029"/>
            <a:ext cx="29793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33"/>
          <p:cNvSpPr/>
          <p:nvPr/>
        </p:nvSpPr>
        <p:spPr>
          <a:xfrm>
            <a:off x="5990183" y="3576029"/>
            <a:ext cx="5620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33"/>
          <p:cNvSpPr/>
          <p:nvPr/>
        </p:nvSpPr>
        <p:spPr>
          <a:xfrm>
            <a:off x="581025" y="4090379"/>
            <a:ext cx="2430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33"/>
          <p:cNvSpPr/>
          <p:nvPr/>
        </p:nvSpPr>
        <p:spPr>
          <a:xfrm>
            <a:off x="3010941" y="4090379"/>
            <a:ext cx="29793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33"/>
          <p:cNvSpPr/>
          <p:nvPr/>
        </p:nvSpPr>
        <p:spPr>
          <a:xfrm>
            <a:off x="5990183" y="4090379"/>
            <a:ext cx="5620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33"/>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Tabel 1: Standard Queue vs Deque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352"/>
        <p:cNvGrpSpPr/>
        <p:nvPr/>
      </p:nvGrpSpPr>
      <p:grpSpPr>
        <a:xfrm>
          <a:off x="0" y="0"/>
          <a:ext cx="0" cy="0"/>
          <a:chOff x="0" y="0"/>
          <a:chExt cx="0" cy="0"/>
        </a:xfrm>
      </p:grpSpPr>
      <p:pic>
        <p:nvPicPr>
          <p:cNvPr id="353" name="Google Shape;353;p34" descr="image.png"/>
          <p:cNvPicPr preferRelativeResize="0"/>
          <p:nvPr/>
        </p:nvPicPr>
        <p:blipFill rotWithShape="1">
          <a:blip r:embed="rId3">
            <a:alphaModFix/>
          </a:blip>
          <a:srcRect/>
          <a:stretch/>
        </p:blipFill>
        <p:spPr>
          <a:xfrm>
            <a:off x="571500" y="1539199"/>
            <a:ext cx="11049000" cy="3438525"/>
          </a:xfrm>
          <a:prstGeom prst="rect">
            <a:avLst/>
          </a:prstGeom>
          <a:noFill/>
          <a:ln>
            <a:noFill/>
          </a:ln>
        </p:spPr>
      </p:pic>
      <p:graphicFrame>
        <p:nvGraphicFramePr>
          <p:cNvPr id="354" name="Google Shape;354;p34"/>
          <p:cNvGraphicFramePr/>
          <p:nvPr/>
        </p:nvGraphicFramePr>
        <p:xfrm>
          <a:off x="581025" y="1548724"/>
          <a:ext cx="3000000" cy="3000000"/>
        </p:xfrm>
        <a:graphic>
          <a:graphicData uri="http://schemas.openxmlformats.org/drawingml/2006/table">
            <a:tbl>
              <a:tblPr firstRow="1" bandRow="1">
                <a:noFill/>
                <a:tableStyleId>{911CAA84-FF34-4053-83B9-34899810A1EA}</a:tableStyleId>
              </a:tblPr>
              <a:tblGrid>
                <a:gridCol w="2619075"/>
                <a:gridCol w="3979800"/>
                <a:gridCol w="4431050"/>
              </a:tblGrid>
              <a:tr h="683900">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Parameter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Deque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Priority Queue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839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Dasar Pengurutan (Eksekusi)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Berdasarkan </a:t>
                      </a:r>
                      <a:r>
                        <a:rPr lang="en-US" sz="1350" b="1" i="0" u="none" strike="noStrike" cap="none">
                          <a:solidFill>
                            <a:srgbClr val="CCD6F6"/>
                          </a:solidFill>
                          <a:latin typeface="Inter"/>
                          <a:ea typeface="Inter"/>
                          <a:cs typeface="Inter"/>
                          <a:sym typeface="Inter"/>
                        </a:rPr>
                        <a:t>Lokasi/Posisi</a:t>
                      </a:r>
                      <a:r>
                        <a:rPr lang="en-US" sz="1350" b="0" i="0" u="none" strike="noStrike" cap="none">
                          <a:solidFill>
                            <a:srgbClr val="CCD6F6"/>
                          </a:solidFill>
                          <a:latin typeface="Inter"/>
                          <a:ea typeface="Inter"/>
                          <a:cs typeface="Inter"/>
                          <a:sym typeface="Inter"/>
                        </a:rPr>
                        <a:t> dan waktu kedatangan elemen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Berdasarkan </a:t>
                      </a:r>
                      <a:r>
                        <a:rPr lang="en-US" sz="1350" b="1" i="0" u="none" strike="noStrike" cap="none">
                          <a:solidFill>
                            <a:srgbClr val="CCD6F6"/>
                          </a:solidFill>
                          <a:latin typeface="Inter"/>
                          <a:ea typeface="Inter"/>
                          <a:cs typeface="Inter"/>
                          <a:sym typeface="Inter"/>
                        </a:rPr>
                        <a:t>Nilai Bobot Prioritas</a:t>
                      </a:r>
                      <a:r>
                        <a:rPr lang="en-US" sz="1350" b="0" i="0" u="none" strike="noStrike" cap="none">
                          <a:solidFill>
                            <a:srgbClr val="CCD6F6"/>
                          </a:solidFill>
                          <a:latin typeface="Inter"/>
                          <a:ea typeface="Inter"/>
                          <a:cs typeface="Inter"/>
                          <a:sym typeface="Inter"/>
                        </a:rPr>
                        <a:t> pada elemen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839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Posisi Penempatan (Insert)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Eksplisit di ujung (Front/Rear)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Otomatis digeser mesin ke titik hierarki yang tepat (di tengah Tree)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839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Struktur Data Underlying Optimal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Doubly Linked List / Circular Array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Binary Heap Tree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839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Tujuan Desain Utama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Fleksibilitas akses ujung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CCD6F6"/>
                          </a:solidFill>
                          <a:latin typeface="Inter"/>
                          <a:ea typeface="Inter"/>
                          <a:cs typeface="Inter"/>
                          <a:sym typeface="Inter"/>
                        </a:rPr>
                        <a:t>Eksekusi tugas darurat / pengurutan otomatis elemen dominan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bl>
          </a:graphicData>
        </a:graphic>
      </p:graphicFrame>
      <p:sp>
        <p:nvSpPr>
          <p:cNvPr id="355" name="Google Shape;355;p34"/>
          <p:cNvSpPr/>
          <p:nvPr/>
        </p:nvSpPr>
        <p:spPr>
          <a:xfrm>
            <a:off x="581025" y="2105936"/>
            <a:ext cx="2619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6" name="Google Shape;356;p34"/>
          <p:cNvSpPr/>
          <p:nvPr/>
        </p:nvSpPr>
        <p:spPr>
          <a:xfrm>
            <a:off x="3200102" y="2105936"/>
            <a:ext cx="3979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7" name="Google Shape;357;p34"/>
          <p:cNvSpPr/>
          <p:nvPr/>
        </p:nvSpPr>
        <p:spPr>
          <a:xfrm>
            <a:off x="7179915" y="2105936"/>
            <a:ext cx="4431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8" name="Google Shape;358;p34"/>
          <p:cNvSpPr/>
          <p:nvPr/>
        </p:nvSpPr>
        <p:spPr>
          <a:xfrm>
            <a:off x="581025" y="2820311"/>
            <a:ext cx="2619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9" name="Google Shape;359;p34"/>
          <p:cNvSpPr/>
          <p:nvPr/>
        </p:nvSpPr>
        <p:spPr>
          <a:xfrm>
            <a:off x="3200102" y="2820311"/>
            <a:ext cx="3979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0" name="Google Shape;360;p34"/>
          <p:cNvSpPr/>
          <p:nvPr/>
        </p:nvSpPr>
        <p:spPr>
          <a:xfrm>
            <a:off x="7179915" y="2820311"/>
            <a:ext cx="4431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1" name="Google Shape;361;p34"/>
          <p:cNvSpPr/>
          <p:nvPr/>
        </p:nvSpPr>
        <p:spPr>
          <a:xfrm>
            <a:off x="581025" y="3534686"/>
            <a:ext cx="2619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2" name="Google Shape;362;p34"/>
          <p:cNvSpPr/>
          <p:nvPr/>
        </p:nvSpPr>
        <p:spPr>
          <a:xfrm>
            <a:off x="3200102" y="3534686"/>
            <a:ext cx="3979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3" name="Google Shape;363;p34"/>
          <p:cNvSpPr/>
          <p:nvPr/>
        </p:nvSpPr>
        <p:spPr>
          <a:xfrm>
            <a:off x="7179915" y="3534686"/>
            <a:ext cx="4431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4" name="Google Shape;364;p34"/>
          <p:cNvSpPr/>
          <p:nvPr/>
        </p:nvSpPr>
        <p:spPr>
          <a:xfrm>
            <a:off x="581025" y="4249061"/>
            <a:ext cx="2619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5" name="Google Shape;365;p34"/>
          <p:cNvSpPr/>
          <p:nvPr/>
        </p:nvSpPr>
        <p:spPr>
          <a:xfrm>
            <a:off x="3200102" y="4249061"/>
            <a:ext cx="39798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6" name="Google Shape;366;p34"/>
          <p:cNvSpPr/>
          <p:nvPr/>
        </p:nvSpPr>
        <p:spPr>
          <a:xfrm>
            <a:off x="7179915" y="4249061"/>
            <a:ext cx="44310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7" name="Google Shape;367;p3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Tabel 2: Deque vs Priority Queue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371"/>
        <p:cNvGrpSpPr/>
        <p:nvPr/>
      </p:nvGrpSpPr>
      <p:grpSpPr>
        <a:xfrm>
          <a:off x="0" y="0"/>
          <a:ext cx="0" cy="0"/>
          <a:chOff x="0" y="0"/>
          <a:chExt cx="0" cy="0"/>
        </a:xfrm>
      </p:grpSpPr>
      <p:pic>
        <p:nvPicPr>
          <p:cNvPr id="372" name="Google Shape;372;p35" descr="image.png"/>
          <p:cNvPicPr preferRelativeResize="0"/>
          <p:nvPr/>
        </p:nvPicPr>
        <p:blipFill rotWithShape="1">
          <a:blip r:embed="rId3">
            <a:alphaModFix/>
          </a:blip>
          <a:srcRect/>
          <a:stretch/>
        </p:blipFill>
        <p:spPr>
          <a:xfrm>
            <a:off x="571500" y="1474210"/>
            <a:ext cx="5286375" cy="4429125"/>
          </a:xfrm>
          <a:prstGeom prst="rect">
            <a:avLst/>
          </a:prstGeom>
          <a:noFill/>
          <a:ln>
            <a:noFill/>
          </a:ln>
        </p:spPr>
      </p:pic>
      <p:pic>
        <p:nvPicPr>
          <p:cNvPr id="373" name="Google Shape;373;p35" descr="image.png"/>
          <p:cNvPicPr preferRelativeResize="0"/>
          <p:nvPr/>
        </p:nvPicPr>
        <p:blipFill rotWithShape="1">
          <a:blip r:embed="rId4">
            <a:alphaModFix/>
          </a:blip>
          <a:srcRect/>
          <a:stretch/>
        </p:blipFill>
        <p:spPr>
          <a:xfrm>
            <a:off x="6334125" y="1474210"/>
            <a:ext cx="5286375" cy="4429125"/>
          </a:xfrm>
          <a:prstGeom prst="rect">
            <a:avLst/>
          </a:prstGeom>
          <a:noFill/>
          <a:ln>
            <a:noFill/>
          </a:ln>
        </p:spPr>
      </p:pic>
      <p:sp>
        <p:nvSpPr>
          <p:cNvPr id="374" name="Google Shape;374;p35"/>
          <p:cNvSpPr txBox="1"/>
          <p:nvPr/>
        </p:nvSpPr>
        <p:spPr>
          <a:xfrm>
            <a:off x="1098406" y="1874477"/>
            <a:ext cx="4730700" cy="323100"/>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0" i="0" u="none" strike="noStrike" cap="none">
                <a:solidFill>
                  <a:srgbClr val="64FFDA"/>
                </a:solidFill>
                <a:latin typeface="Poppins SemiBold"/>
                <a:ea typeface="Poppins SemiBold"/>
                <a:cs typeface="Poppins SemiBold"/>
                <a:sym typeface="Poppins SemiBold"/>
              </a:rPr>
              <a:t>CPU Task Scheduling (OS)</a:t>
            </a:r>
            <a:endParaRPr/>
          </a:p>
        </p:txBody>
      </p:sp>
      <p:sp>
        <p:nvSpPr>
          <p:cNvPr id="375" name="Google Shape;375;p35"/>
          <p:cNvSpPr txBox="1"/>
          <p:nvPr/>
        </p:nvSpPr>
        <p:spPr>
          <a:xfrm>
            <a:off x="962025" y="2553782"/>
            <a:ext cx="4505400" cy="28167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Sistem operasi kernel Windows/Linux secara fundamental menggunakan </a:t>
            </a:r>
            <a:r>
              <a:rPr lang="en-US" sz="1500" b="1" i="0" u="none" strike="noStrike" cap="none">
                <a:solidFill>
                  <a:srgbClr val="8892B0"/>
                </a:solidFill>
                <a:latin typeface="Inter"/>
                <a:ea typeface="Inter"/>
                <a:cs typeface="Inter"/>
                <a:sym typeface="Inter"/>
              </a:rPr>
              <a:t>Priority Queue</a:t>
            </a:r>
            <a:r>
              <a:rPr lang="en-US" sz="1500" b="0" i="0" u="none" strike="noStrike" cap="none">
                <a:solidFill>
                  <a:srgbClr val="8892B0"/>
                </a:solidFill>
                <a:latin typeface="Inter"/>
                <a:ea typeface="Inter"/>
                <a:cs typeface="Inter"/>
                <a:sym typeface="Inter"/>
              </a:rPr>
              <a:t>. Proses dari Input/Output hardware (misal gerakan kursor mouse) memiliki prioritas yang jauh melampaui proses latar belakang (misal background rendering grafik), sehingga kursor tidak putus-putus meskipun CPU sedang terbeban berat (Lag).</a:t>
            </a:r>
            <a:endParaRPr/>
          </a:p>
        </p:txBody>
      </p:sp>
      <p:sp>
        <p:nvSpPr>
          <p:cNvPr id="376" name="Google Shape;376;p35"/>
          <p:cNvSpPr txBox="1"/>
          <p:nvPr/>
        </p:nvSpPr>
        <p:spPr>
          <a:xfrm>
            <a:off x="6880514" y="1874477"/>
            <a:ext cx="4730700" cy="323100"/>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0" i="0" u="none" strike="noStrike" cap="none">
                <a:solidFill>
                  <a:srgbClr val="FFD700"/>
                </a:solidFill>
                <a:latin typeface="Poppins SemiBold"/>
                <a:ea typeface="Poppins SemiBold"/>
                <a:cs typeface="Poppins SemiBold"/>
                <a:sym typeface="Poppins SemiBold"/>
              </a:rPr>
              <a:t>E-Commerce Task Stealing</a:t>
            </a:r>
            <a:endParaRPr/>
          </a:p>
        </p:txBody>
      </p:sp>
      <p:sp>
        <p:nvSpPr>
          <p:cNvPr id="377" name="Google Shape;377;p35"/>
          <p:cNvSpPr txBox="1"/>
          <p:nvPr/>
        </p:nvSpPr>
        <p:spPr>
          <a:xfrm>
            <a:off x="6724650" y="2553782"/>
            <a:ext cx="4505400" cy="24474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8892B0"/>
                </a:solidFill>
                <a:latin typeface="Inter"/>
                <a:ea typeface="Inter"/>
                <a:cs typeface="Inter"/>
                <a:sym typeface="Inter"/>
              </a:rPr>
              <a:t>Platform web berskala raksasa menggunakan pemrosesan multithreading terdistribusi. Setiap pekerja memegang satu </a:t>
            </a:r>
            <a:r>
              <a:rPr lang="en-US" sz="1500" b="1" i="0" u="none" strike="noStrike" cap="none">
                <a:solidFill>
                  <a:srgbClr val="8892B0"/>
                </a:solidFill>
                <a:latin typeface="Inter"/>
                <a:ea typeface="Inter"/>
                <a:cs typeface="Inter"/>
                <a:sym typeface="Inter"/>
              </a:rPr>
              <a:t>Deque</a:t>
            </a:r>
            <a:r>
              <a:rPr lang="en-US" sz="1500" b="0" i="0" u="none" strike="noStrike" cap="none">
                <a:solidFill>
                  <a:srgbClr val="8892B0"/>
                </a:solidFill>
                <a:latin typeface="Inter"/>
                <a:ea typeface="Inter"/>
                <a:cs typeface="Inter"/>
                <a:sym typeface="Inter"/>
              </a:rPr>
              <a:t> tugasnya sendiri. Saat seorang pekerja habis tugasnya, alih-alih menganggur, ia akan masuk ke antrean Deque pekerja lain dari ujung belakang (Rear Steal) tanpa mengganggu operasi di depan.</a:t>
            </a:r>
            <a:endParaRPr/>
          </a:p>
        </p:txBody>
      </p:sp>
      <p:pic>
        <p:nvPicPr>
          <p:cNvPr id="378" name="Google Shape;378;p35" descr="image.png"/>
          <p:cNvPicPr preferRelativeResize="0"/>
          <p:nvPr/>
        </p:nvPicPr>
        <p:blipFill rotWithShape="1">
          <a:blip r:embed="rId5">
            <a:alphaModFix/>
          </a:blip>
          <a:srcRect/>
          <a:stretch/>
        </p:blipFill>
        <p:spPr>
          <a:xfrm>
            <a:off x="962025" y="1921885"/>
            <a:ext cx="266700" cy="266700"/>
          </a:xfrm>
          <a:prstGeom prst="rect">
            <a:avLst/>
          </a:prstGeom>
          <a:noFill/>
          <a:ln>
            <a:noFill/>
          </a:ln>
        </p:spPr>
      </p:pic>
      <p:pic>
        <p:nvPicPr>
          <p:cNvPr id="379" name="Google Shape;379;p35" descr="image.png"/>
          <p:cNvPicPr preferRelativeResize="0"/>
          <p:nvPr/>
        </p:nvPicPr>
        <p:blipFill rotWithShape="1">
          <a:blip r:embed="rId6">
            <a:alphaModFix/>
          </a:blip>
          <a:srcRect/>
          <a:stretch/>
        </p:blipFill>
        <p:spPr>
          <a:xfrm>
            <a:off x="6724650" y="1921885"/>
            <a:ext cx="266700" cy="266700"/>
          </a:xfrm>
          <a:prstGeom prst="rect">
            <a:avLst/>
          </a:prstGeom>
          <a:noFill/>
          <a:ln>
            <a:noFill/>
          </a:ln>
        </p:spPr>
      </p:pic>
      <p:sp>
        <p:nvSpPr>
          <p:cNvPr id="380" name="Google Shape;380;p3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Studi Kasus Ekosistem Industri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384"/>
        <p:cNvGrpSpPr/>
        <p:nvPr/>
      </p:nvGrpSpPr>
      <p:grpSpPr>
        <a:xfrm>
          <a:off x="0" y="0"/>
          <a:ext cx="0" cy="0"/>
          <a:chOff x="0" y="0"/>
          <a:chExt cx="0" cy="0"/>
        </a:xfrm>
      </p:grpSpPr>
      <p:pic>
        <p:nvPicPr>
          <p:cNvPr id="385" name="Google Shape;385;p36" descr="image.png"/>
          <p:cNvPicPr preferRelativeResize="0"/>
          <p:nvPr/>
        </p:nvPicPr>
        <p:blipFill rotWithShape="1">
          <a:blip r:embed="rId3">
            <a:alphaModFix/>
          </a:blip>
          <a:srcRect/>
          <a:stretch/>
        </p:blipFill>
        <p:spPr>
          <a:xfrm>
            <a:off x="571500" y="1584798"/>
            <a:ext cx="11049000" cy="3526035"/>
          </a:xfrm>
          <a:prstGeom prst="rect">
            <a:avLst/>
          </a:prstGeom>
          <a:noFill/>
          <a:ln>
            <a:noFill/>
          </a:ln>
        </p:spPr>
      </p:pic>
      <p:graphicFrame>
        <p:nvGraphicFramePr>
          <p:cNvPr id="386" name="Google Shape;386;p36"/>
          <p:cNvGraphicFramePr/>
          <p:nvPr/>
        </p:nvGraphicFramePr>
        <p:xfrm>
          <a:off x="581025" y="1594323"/>
          <a:ext cx="3000000" cy="3000000"/>
        </p:xfrm>
        <a:graphic>
          <a:graphicData uri="http://schemas.openxmlformats.org/drawingml/2006/table">
            <a:tbl>
              <a:tblPr firstRow="1" bandRow="1">
                <a:noFill/>
                <a:tableStyleId>{911CAA84-FF34-4053-83B9-34899810A1EA}</a:tableStyleId>
              </a:tblPr>
              <a:tblGrid>
                <a:gridCol w="3269150"/>
                <a:gridCol w="2570550"/>
                <a:gridCol w="2570550"/>
                <a:gridCol w="2619675"/>
              </a:tblGrid>
              <a:tr h="647700">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Struktur Data (Implementasi Terbaik)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Insert (Time Complexity)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Delete (Time Complexity)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marR="0" lvl="0" indent="0" algn="l" rtl="0">
                        <a:spcBef>
                          <a:spcPts val="0"/>
                        </a:spcBef>
                        <a:spcAft>
                          <a:spcPts val="0"/>
                        </a:spcAft>
                        <a:buNone/>
                      </a:pPr>
                      <a:r>
                        <a:rPr lang="en-US" sz="1350" b="0" i="0" u="none" strike="noStrike" cap="none">
                          <a:solidFill>
                            <a:srgbClr val="FFD700"/>
                          </a:solidFill>
                          <a:latin typeface="Poppins SemiBold"/>
                          <a:ea typeface="Poppins SemiBold"/>
                          <a:cs typeface="Poppins SemiBold"/>
                          <a:sym typeface="Poppins SemiBold"/>
                        </a:rPr>
                        <a:t>Peek/Top (Time Complexity)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477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Standard Queue</a:t>
                      </a:r>
                      <a:r>
                        <a:rPr lang="en-US" sz="1350" b="0" i="0" u="none" strike="noStrike" cap="none">
                          <a:solidFill>
                            <a:srgbClr val="CCD6F6"/>
                          </a:solidFill>
                          <a:latin typeface="Inter"/>
                          <a:ea typeface="Inter"/>
                          <a:cs typeface="Inter"/>
                          <a:sym typeface="Inter"/>
                        </a:rPr>
                        <a:t> (Circular Array)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(1) Konstan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(1) Konstan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(1) Konstan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477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Deque</a:t>
                      </a:r>
                      <a:r>
                        <a:rPr lang="en-US" sz="1350" b="0" i="0" u="none" strike="noStrike" cap="none">
                          <a:solidFill>
                            <a:srgbClr val="CCD6F6"/>
                          </a:solidFill>
                          <a:latin typeface="Inter"/>
                          <a:ea typeface="Inter"/>
                          <a:cs typeface="Inter"/>
                          <a:sym typeface="Inter"/>
                        </a:rPr>
                        <a:t> (Doubly Linked List)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(1) Konstan di kedua ujung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(1) Konstan di kedua ujung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(1) Konstan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r h="647700">
                <a:tc>
                  <a:txBody>
                    <a:bodyPr/>
                    <a:lstStyle/>
                    <a:p>
                      <a:pPr marL="0" marR="0" lvl="0" indent="0" algn="l" rtl="0">
                        <a:spcBef>
                          <a:spcPts val="0"/>
                        </a:spcBef>
                        <a:spcAft>
                          <a:spcPts val="0"/>
                        </a:spcAft>
                        <a:buNone/>
                      </a:pPr>
                      <a:r>
                        <a:rPr lang="en-US" sz="1350" b="1" i="0" u="none" strike="noStrike" cap="none">
                          <a:solidFill>
                            <a:srgbClr val="CCD6F6"/>
                          </a:solidFill>
                          <a:latin typeface="Inter"/>
                          <a:ea typeface="Inter"/>
                          <a:cs typeface="Inter"/>
                          <a:sym typeface="Inter"/>
                        </a:rPr>
                        <a:t>Priority Queue</a:t>
                      </a:r>
                      <a:r>
                        <a:rPr lang="en-US" sz="1350" b="0" i="0" u="none" strike="noStrike" cap="none">
                          <a:solidFill>
                            <a:srgbClr val="CCD6F6"/>
                          </a:solidFill>
                          <a:latin typeface="Inter"/>
                          <a:ea typeface="Inter"/>
                          <a:cs typeface="Inter"/>
                          <a:sym typeface="Inter"/>
                        </a:rPr>
                        <a:t> (Binary Heap)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Clr>
                          <a:schemeClr val="dk1"/>
                        </a:buClr>
                        <a:buFont typeface="Arial"/>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(log </a:t>
                      </a:r>
                      <a:r>
                        <a:rPr lang="en-US" sz="1300" i="1">
                          <a:solidFill>
                            <a:srgbClr val="CCD6F6"/>
                          </a:solidFill>
                          <a:latin typeface="Inter"/>
                          <a:ea typeface="Inter"/>
                          <a:cs typeface="Inter"/>
                          <a:sym typeface="Inter"/>
                        </a:rPr>
                        <a:t>N</a:t>
                      </a:r>
                      <a:r>
                        <a:rPr lang="en-US" sz="1300">
                          <a:solidFill>
                            <a:srgbClr val="CCD6F6"/>
                          </a:solidFill>
                          <a:latin typeface="Inter"/>
                          <a:ea typeface="Inter"/>
                          <a:cs typeface="Inter"/>
                          <a:sym typeface="Inter"/>
                        </a:rPr>
                        <a:t>) </a:t>
                      </a:r>
                      <a:r>
                        <a:rPr lang="en-US" sz="1350">
                          <a:solidFill>
                            <a:srgbClr val="CCD6F6"/>
                          </a:solidFill>
                          <a:highlight>
                            <a:srgbClr val="112240"/>
                          </a:highlight>
                          <a:latin typeface="Inter"/>
                          <a:ea typeface="Inter"/>
                          <a:cs typeface="Inter"/>
                          <a:sym typeface="Inter"/>
                        </a:rPr>
                        <a:t>Logaritmik</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Clr>
                          <a:schemeClr val="dk1"/>
                        </a:buClr>
                        <a:buFont typeface="Arial"/>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(log </a:t>
                      </a:r>
                      <a:r>
                        <a:rPr lang="en-US" sz="1300" i="1">
                          <a:solidFill>
                            <a:srgbClr val="CCD6F6"/>
                          </a:solidFill>
                          <a:latin typeface="Inter"/>
                          <a:ea typeface="Inter"/>
                          <a:cs typeface="Inter"/>
                          <a:sym typeface="Inter"/>
                        </a:rPr>
                        <a:t>N</a:t>
                      </a:r>
                      <a:r>
                        <a:rPr lang="en-US" sz="1300">
                          <a:solidFill>
                            <a:srgbClr val="CCD6F6"/>
                          </a:solidFill>
                          <a:latin typeface="Inter"/>
                          <a:ea typeface="Inter"/>
                          <a:cs typeface="Inter"/>
                          <a:sym typeface="Inter"/>
                        </a:rPr>
                        <a:t>)</a:t>
                      </a:r>
                      <a:r>
                        <a:rPr lang="en-US" sz="1350">
                          <a:solidFill>
                            <a:srgbClr val="CCD6F6"/>
                          </a:solidFill>
                          <a:highlight>
                            <a:srgbClr val="112240"/>
                          </a:highlight>
                          <a:latin typeface="Inter"/>
                          <a:ea typeface="Inter"/>
                          <a:cs typeface="Inter"/>
                          <a:sym typeface="Inter"/>
                        </a:rPr>
                        <a:t>Logaritmik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c>
                  <a:txBody>
                    <a:bodyPr/>
                    <a:lstStyle/>
                    <a:p>
                      <a:pPr marL="0" lvl="0" indent="0" algn="just" rtl="0">
                        <a:lnSpc>
                          <a:spcPct val="150000"/>
                        </a:lnSpc>
                        <a:spcBef>
                          <a:spcPts val="0"/>
                        </a:spcBef>
                        <a:spcAft>
                          <a:spcPts val="0"/>
                        </a:spcAft>
                        <a:buClr>
                          <a:schemeClr val="dk1"/>
                        </a:buClr>
                        <a:buFont typeface="Arial"/>
                        <a:buNone/>
                      </a:pPr>
                      <a:r>
                        <a:rPr lang="en-US" sz="1300" i="1">
                          <a:solidFill>
                            <a:srgbClr val="CCD6F6"/>
                          </a:solidFill>
                          <a:latin typeface="Inter"/>
                          <a:ea typeface="Inter"/>
                          <a:cs typeface="Inter"/>
                          <a:sym typeface="Inter"/>
                        </a:rPr>
                        <a:t>O</a:t>
                      </a:r>
                      <a:r>
                        <a:rPr lang="en-US" sz="1300">
                          <a:solidFill>
                            <a:srgbClr val="CCD6F6"/>
                          </a:solidFill>
                          <a:latin typeface="Inter"/>
                          <a:ea typeface="Inter"/>
                          <a:cs typeface="Inter"/>
                          <a:sym typeface="Inter"/>
                        </a:rPr>
                        <a:t> (log </a:t>
                      </a:r>
                      <a:r>
                        <a:rPr lang="en-US" sz="1300" i="1">
                          <a:solidFill>
                            <a:srgbClr val="CCD6F6"/>
                          </a:solidFill>
                          <a:latin typeface="Inter"/>
                          <a:ea typeface="Inter"/>
                          <a:cs typeface="Inter"/>
                          <a:sym typeface="Inter"/>
                        </a:rPr>
                        <a:t>N</a:t>
                      </a:r>
                      <a:r>
                        <a:rPr lang="en-US" sz="1300">
                          <a:solidFill>
                            <a:srgbClr val="CCD6F6"/>
                          </a:solidFill>
                          <a:latin typeface="Inter"/>
                          <a:ea typeface="Inter"/>
                          <a:cs typeface="Inter"/>
                          <a:sym typeface="Inter"/>
                        </a:rPr>
                        <a:t>) Konstan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213F"/>
                    </a:solidFill>
                  </a:tcPr>
                </a:tc>
              </a:tr>
            </a:tbl>
          </a:graphicData>
        </a:graphic>
      </p:graphicFrame>
      <p:sp>
        <p:nvSpPr>
          <p:cNvPr id="387" name="Google Shape;387;p36"/>
          <p:cNvSpPr txBox="1"/>
          <p:nvPr/>
        </p:nvSpPr>
        <p:spPr>
          <a:xfrm>
            <a:off x="723900" y="4327998"/>
            <a:ext cx="10744200" cy="48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1" u="none" strike="noStrike" cap="none">
                <a:solidFill>
                  <a:srgbClr val="8892B0"/>
                </a:solidFill>
                <a:latin typeface="Inter"/>
                <a:ea typeface="Inter"/>
                <a:cs typeface="Inter"/>
                <a:sym typeface="Inter"/>
              </a:rPr>
              <a:t>*Priority Queue "membayar" harga atas penyusunan prioritas cerdasnya dengan mengorbankan kecepatan instan O(1) saat modifikasi data struktural terjadi.</a:t>
            </a:r>
            <a:endParaRPr/>
          </a:p>
        </p:txBody>
      </p:sp>
      <p:sp>
        <p:nvSpPr>
          <p:cNvPr id="388" name="Google Shape;388;p36"/>
          <p:cNvSpPr/>
          <p:nvPr/>
        </p:nvSpPr>
        <p:spPr>
          <a:xfrm>
            <a:off x="581025" y="2408710"/>
            <a:ext cx="32691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9" name="Google Shape;389;p36"/>
          <p:cNvSpPr/>
          <p:nvPr/>
        </p:nvSpPr>
        <p:spPr>
          <a:xfrm>
            <a:off x="3850183" y="2408710"/>
            <a:ext cx="25707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0" name="Google Shape;390;p36"/>
          <p:cNvSpPr/>
          <p:nvPr/>
        </p:nvSpPr>
        <p:spPr>
          <a:xfrm>
            <a:off x="6420742" y="2408710"/>
            <a:ext cx="25707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1" name="Google Shape;391;p36"/>
          <p:cNvSpPr/>
          <p:nvPr/>
        </p:nvSpPr>
        <p:spPr>
          <a:xfrm>
            <a:off x="8991302" y="2408710"/>
            <a:ext cx="26196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2" name="Google Shape;392;p36"/>
          <p:cNvSpPr/>
          <p:nvPr/>
        </p:nvSpPr>
        <p:spPr>
          <a:xfrm>
            <a:off x="581025" y="2932585"/>
            <a:ext cx="32691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3" name="Google Shape;393;p36"/>
          <p:cNvSpPr/>
          <p:nvPr/>
        </p:nvSpPr>
        <p:spPr>
          <a:xfrm>
            <a:off x="3850183" y="2932585"/>
            <a:ext cx="25707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4" name="Google Shape;394;p36"/>
          <p:cNvSpPr/>
          <p:nvPr/>
        </p:nvSpPr>
        <p:spPr>
          <a:xfrm>
            <a:off x="6420742" y="2932585"/>
            <a:ext cx="25707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5" name="Google Shape;395;p36"/>
          <p:cNvSpPr/>
          <p:nvPr/>
        </p:nvSpPr>
        <p:spPr>
          <a:xfrm>
            <a:off x="8991302" y="2932585"/>
            <a:ext cx="26196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6" name="Google Shape;396;p36"/>
          <p:cNvSpPr/>
          <p:nvPr/>
        </p:nvSpPr>
        <p:spPr>
          <a:xfrm>
            <a:off x="581025" y="3656485"/>
            <a:ext cx="32691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7" name="Google Shape;397;p36"/>
          <p:cNvSpPr/>
          <p:nvPr/>
        </p:nvSpPr>
        <p:spPr>
          <a:xfrm>
            <a:off x="3850183" y="3656485"/>
            <a:ext cx="25707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8" name="Google Shape;398;p36"/>
          <p:cNvSpPr/>
          <p:nvPr/>
        </p:nvSpPr>
        <p:spPr>
          <a:xfrm>
            <a:off x="6420742" y="3656485"/>
            <a:ext cx="25707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9" name="Google Shape;399;p36"/>
          <p:cNvSpPr/>
          <p:nvPr/>
        </p:nvSpPr>
        <p:spPr>
          <a:xfrm>
            <a:off x="8991302" y="3656485"/>
            <a:ext cx="2619600" cy="9600"/>
          </a:xfrm>
          <a:prstGeom prst="rect">
            <a:avLst/>
          </a:prstGeom>
          <a:solidFill>
            <a:srgbClr val="2335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p36"/>
          <p:cNvSpPr txBox="1"/>
          <p:nvPr/>
        </p:nvSpPr>
        <p:spPr>
          <a:xfrm>
            <a:off x="571500" y="571500"/>
            <a:ext cx="116016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Analisis Profil Efisiensi (Kompleksitas)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404"/>
        <p:cNvGrpSpPr/>
        <p:nvPr/>
      </p:nvGrpSpPr>
      <p:grpSpPr>
        <a:xfrm>
          <a:off x="0" y="0"/>
          <a:ext cx="0" cy="0"/>
          <a:chOff x="0" y="0"/>
          <a:chExt cx="0" cy="0"/>
        </a:xfrm>
      </p:grpSpPr>
      <p:sp>
        <p:nvSpPr>
          <p:cNvPr id="405" name="Google Shape;405;p3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Studi Kasus C++: Antrean Pasien RS</a:t>
            </a:r>
            <a:endParaRPr/>
          </a:p>
        </p:txBody>
      </p:sp>
      <p:sp>
        <p:nvSpPr>
          <p:cNvPr id="406" name="Google Shape;406;p37"/>
          <p:cNvSpPr txBox="1"/>
          <p:nvPr/>
        </p:nvSpPr>
        <p:spPr>
          <a:xfrm>
            <a:off x="571500" y="1263150"/>
            <a:ext cx="10816200" cy="5094900"/>
          </a:xfrm>
          <a:prstGeom prst="rect">
            <a:avLst/>
          </a:prstGeom>
          <a:solidFill>
            <a:srgbClr val="020C1B"/>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a:solidFill>
                  <a:srgbClr val="C678DD"/>
                </a:solidFill>
                <a:latin typeface="Fira Code"/>
                <a:ea typeface="Fira Code"/>
                <a:cs typeface="Fira Code"/>
                <a:sym typeface="Fira Code"/>
              </a:rPr>
              <a:t>#include</a:t>
            </a:r>
            <a:r>
              <a:rPr lang="en-US" sz="1100">
                <a:solidFill>
                  <a:srgbClr val="64FFDA"/>
                </a:solidFill>
                <a:latin typeface="Fira Code"/>
                <a:ea typeface="Fira Code"/>
                <a:cs typeface="Fira Code"/>
                <a:sym typeface="Fira Code"/>
              </a:rPr>
              <a:t> &lt;iostream&gt;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C678DD"/>
                </a:solidFill>
                <a:latin typeface="Fira Code"/>
                <a:ea typeface="Fira Code"/>
                <a:cs typeface="Fira Code"/>
                <a:sym typeface="Fira Code"/>
              </a:rPr>
              <a:t>#include</a:t>
            </a:r>
            <a:r>
              <a:rPr lang="en-US" sz="1100">
                <a:solidFill>
                  <a:srgbClr val="64FFDA"/>
                </a:solidFill>
                <a:latin typeface="Fira Code"/>
                <a:ea typeface="Fira Code"/>
                <a:cs typeface="Fira Code"/>
                <a:sym typeface="Fira Code"/>
              </a:rPr>
              <a:t> &lt;queue&gt;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C678DD"/>
                </a:solidFill>
                <a:latin typeface="Fira Code"/>
                <a:ea typeface="Fira Code"/>
                <a:cs typeface="Fira Code"/>
                <a:sym typeface="Fira Code"/>
              </a:rPr>
              <a:t>#include</a:t>
            </a:r>
            <a:r>
              <a:rPr lang="en-US" sz="1100">
                <a:solidFill>
                  <a:srgbClr val="64FFDA"/>
                </a:solidFill>
                <a:latin typeface="Fira Code"/>
                <a:ea typeface="Fira Code"/>
                <a:cs typeface="Fira Code"/>
                <a:sym typeface="Fira Code"/>
              </a:rPr>
              <a:t> &lt;string&gt;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C678DD"/>
                </a:solidFill>
                <a:latin typeface="Fira Code"/>
                <a:ea typeface="Fira Code"/>
                <a:cs typeface="Fira Code"/>
                <a:sym typeface="Fira Code"/>
              </a:rPr>
              <a:t>using namespace</a:t>
            </a:r>
            <a:r>
              <a:rPr lang="en-US" sz="1100">
                <a:solidFill>
                  <a:srgbClr val="64FFDA"/>
                </a:solidFill>
                <a:latin typeface="Fira Code"/>
                <a:ea typeface="Fira Code"/>
                <a:cs typeface="Fira Code"/>
                <a:sym typeface="Fira Code"/>
              </a:rPr>
              <a:t> std;</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i="1">
                <a:solidFill>
                  <a:srgbClr val="5C6370"/>
                </a:solidFill>
                <a:latin typeface="Fira Code"/>
                <a:ea typeface="Fira Code"/>
                <a:cs typeface="Fira Code"/>
                <a:sym typeface="Fira Code"/>
              </a:rPr>
              <a:t>// Blueprint Struct Pasien</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C678DD"/>
                </a:solidFill>
                <a:latin typeface="Fira Code"/>
                <a:ea typeface="Fira Code"/>
                <a:cs typeface="Fira Code"/>
                <a:sym typeface="Fira Code"/>
              </a:rPr>
              <a:t>struct</a:t>
            </a:r>
            <a:r>
              <a:rPr lang="en-US" sz="1100">
                <a:solidFill>
                  <a:srgbClr val="64FFDA"/>
                </a:solidFill>
                <a:latin typeface="Fira Code"/>
                <a:ea typeface="Fira Code"/>
                <a:cs typeface="Fira Code"/>
                <a:sym typeface="Fira Code"/>
              </a:rPr>
              <a:t> </a:t>
            </a:r>
            <a:r>
              <a:rPr lang="en-US" sz="1100">
                <a:solidFill>
                  <a:srgbClr val="E5C07B"/>
                </a:solidFill>
                <a:latin typeface="Fira Code"/>
                <a:ea typeface="Fira Code"/>
                <a:cs typeface="Fira Code"/>
                <a:sym typeface="Fira Code"/>
              </a:rPr>
              <a:t>Pasien</a:t>
            </a:r>
            <a:r>
              <a:rPr lang="en-US" sz="1100">
                <a:solidFill>
                  <a:srgbClr val="64FFDA"/>
                </a:solidFill>
                <a:latin typeface="Fira Code"/>
                <a:ea typeface="Fira Code"/>
                <a:cs typeface="Fira Code"/>
                <a:sym typeface="Fira Code"/>
              </a:rPr>
              <a:t> {</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a:solidFill>
                  <a:srgbClr val="E5C07B"/>
                </a:solidFill>
                <a:latin typeface="Fira Code"/>
                <a:ea typeface="Fira Code"/>
                <a:cs typeface="Fira Code"/>
                <a:sym typeface="Fira Code"/>
              </a:rPr>
              <a:t>string</a:t>
            </a:r>
            <a:r>
              <a:rPr lang="en-US" sz="1100">
                <a:solidFill>
                  <a:srgbClr val="64FFDA"/>
                </a:solidFill>
                <a:latin typeface="Fira Code"/>
                <a:ea typeface="Fira Code"/>
                <a:cs typeface="Fira Code"/>
                <a:sym typeface="Fira Code"/>
              </a:rPr>
              <a:t> nama;</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a:solidFill>
                  <a:srgbClr val="E5C07B"/>
                </a:solidFill>
                <a:latin typeface="Fira Code"/>
                <a:ea typeface="Fira Code"/>
                <a:cs typeface="Fira Code"/>
                <a:sym typeface="Fira Code"/>
              </a:rPr>
              <a:t>int</a:t>
            </a:r>
            <a:r>
              <a:rPr lang="en-US" sz="1100">
                <a:solidFill>
                  <a:srgbClr val="64FFDA"/>
                </a:solidFill>
                <a:latin typeface="Fira Code"/>
                <a:ea typeface="Fira Code"/>
                <a:cs typeface="Fira Code"/>
                <a:sym typeface="Fira Code"/>
              </a:rPr>
              <a:t> tingkat_keparahan; </a:t>
            </a:r>
            <a:r>
              <a:rPr lang="en-US" sz="1100" i="1">
                <a:solidFill>
                  <a:srgbClr val="5C6370"/>
                </a:solidFill>
                <a:latin typeface="Fira Code"/>
                <a:ea typeface="Fira Code"/>
                <a:cs typeface="Fira Code"/>
                <a:sym typeface="Fira Code"/>
              </a:rPr>
              <a:t>// 1: Ringan, 5: Sangat Kritis (Kritis = Angka Besar = Prioritas Maks)</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i="1">
                <a:solidFill>
                  <a:srgbClr val="5C6370"/>
                </a:solidFill>
                <a:latin typeface="Fira Code"/>
                <a:ea typeface="Fira Code"/>
                <a:cs typeface="Fira Code"/>
                <a:sym typeface="Fira Code"/>
              </a:rPr>
              <a:t>// Operator Overloading untuk mengajarkan C++ cara membandingkan Struct berdasarkan keparahan</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a:solidFill>
                  <a:srgbClr val="E5C07B"/>
                </a:solidFill>
                <a:latin typeface="Fira Code"/>
                <a:ea typeface="Fira Code"/>
                <a:cs typeface="Fira Code"/>
                <a:sym typeface="Fira Code"/>
              </a:rPr>
              <a:t>bool</a:t>
            </a:r>
            <a:r>
              <a:rPr lang="en-US" sz="1100">
                <a:solidFill>
                  <a:srgbClr val="64FFDA"/>
                </a:solidFill>
                <a:latin typeface="Fira Code"/>
                <a:ea typeface="Fira Code"/>
                <a:cs typeface="Fira Code"/>
                <a:sym typeface="Fira Code"/>
              </a:rPr>
              <a:t> </a:t>
            </a:r>
            <a:r>
              <a:rPr lang="en-US" sz="1100">
                <a:solidFill>
                  <a:srgbClr val="C678DD"/>
                </a:solidFill>
                <a:latin typeface="Fira Code"/>
                <a:ea typeface="Fira Code"/>
                <a:cs typeface="Fira Code"/>
                <a:sym typeface="Fira Code"/>
              </a:rPr>
              <a:t>operator</a:t>
            </a:r>
            <a:r>
              <a:rPr lang="en-US" sz="1100">
                <a:solidFill>
                  <a:srgbClr val="64FFDA"/>
                </a:solidFill>
                <a:latin typeface="Fira Code"/>
                <a:ea typeface="Fira Code"/>
                <a:cs typeface="Fira Code"/>
                <a:sym typeface="Fira Code"/>
              </a:rPr>
              <a:t>&lt;(</a:t>
            </a:r>
            <a:r>
              <a:rPr lang="en-US" sz="1100">
                <a:solidFill>
                  <a:srgbClr val="C678DD"/>
                </a:solidFill>
                <a:latin typeface="Fira Code"/>
                <a:ea typeface="Fira Code"/>
                <a:cs typeface="Fira Code"/>
                <a:sym typeface="Fira Code"/>
              </a:rPr>
              <a:t>const</a:t>
            </a:r>
            <a:r>
              <a:rPr lang="en-US" sz="1100">
                <a:solidFill>
                  <a:srgbClr val="64FFDA"/>
                </a:solidFill>
                <a:latin typeface="Fira Code"/>
                <a:ea typeface="Fira Code"/>
                <a:cs typeface="Fira Code"/>
                <a:sym typeface="Fira Code"/>
              </a:rPr>
              <a:t> Pasien&amp; other) </a:t>
            </a:r>
            <a:r>
              <a:rPr lang="en-US" sz="1100">
                <a:solidFill>
                  <a:srgbClr val="C678DD"/>
                </a:solidFill>
                <a:latin typeface="Fira Code"/>
                <a:ea typeface="Fira Code"/>
                <a:cs typeface="Fira Code"/>
                <a:sym typeface="Fira Code"/>
              </a:rPr>
              <a:t>const</a:t>
            </a:r>
            <a:r>
              <a:rPr lang="en-US" sz="1100">
                <a:solidFill>
                  <a:srgbClr val="64FFDA"/>
                </a:solidFill>
                <a:latin typeface="Fira Code"/>
                <a:ea typeface="Fira Code"/>
                <a:cs typeface="Fira Code"/>
                <a:sym typeface="Fira Code"/>
              </a:rPr>
              <a:t> {</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a:solidFill>
                  <a:srgbClr val="C678DD"/>
                </a:solidFill>
                <a:latin typeface="Fira Code"/>
                <a:ea typeface="Fira Code"/>
                <a:cs typeface="Fira Code"/>
                <a:sym typeface="Fira Code"/>
              </a:rPr>
              <a:t>return</a:t>
            </a:r>
            <a:r>
              <a:rPr lang="en-US" sz="1100">
                <a:solidFill>
                  <a:srgbClr val="64FFDA"/>
                </a:solidFill>
                <a:latin typeface="Fira Code"/>
                <a:ea typeface="Fira Code"/>
                <a:cs typeface="Fira Code"/>
                <a:sym typeface="Fira Code"/>
              </a:rPr>
              <a:t> tingkat_keparahan &lt; other.tingkat_keparahan; </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E5C07B"/>
                </a:solidFill>
                <a:latin typeface="Fira Code"/>
                <a:ea typeface="Fira Code"/>
                <a:cs typeface="Fira Code"/>
                <a:sym typeface="Fira Code"/>
              </a:rPr>
              <a:t>int</a:t>
            </a:r>
            <a:r>
              <a:rPr lang="en-US" sz="1100">
                <a:solidFill>
                  <a:srgbClr val="64FFDA"/>
                </a:solidFill>
                <a:latin typeface="Fira Code"/>
                <a:ea typeface="Fira Code"/>
                <a:cs typeface="Fira Code"/>
                <a:sym typeface="Fira Code"/>
              </a:rPr>
              <a:t> main() {</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priority_queue&lt;Pasien&gt; ugd_antrean;</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i="1">
                <a:solidFill>
                  <a:srgbClr val="5C6370"/>
                </a:solidFill>
                <a:latin typeface="Fira Code"/>
                <a:ea typeface="Fira Code"/>
                <a:cs typeface="Fira Code"/>
                <a:sym typeface="Fira Code"/>
              </a:rPr>
              <a:t>// Registrasi Pasien Campur</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ugd_antrean.push({"Budi (Flu)", </a:t>
            </a:r>
            <a:r>
              <a:rPr lang="en-US" sz="1100">
                <a:solidFill>
                  <a:srgbClr val="98C379"/>
                </a:solidFill>
                <a:latin typeface="Fira Code"/>
                <a:ea typeface="Fira Code"/>
                <a:cs typeface="Fira Code"/>
                <a:sym typeface="Fira Code"/>
              </a:rPr>
              <a:t>1</a:t>
            </a:r>
            <a:r>
              <a:rPr lang="en-US" sz="1100">
                <a:solidFill>
                  <a:srgbClr val="64FFDA"/>
                </a:solidFill>
                <a:latin typeface="Fira Code"/>
                <a:ea typeface="Fira Code"/>
                <a:cs typeface="Fira Code"/>
                <a:sym typeface="Fira Code"/>
              </a:rPr>
              <a: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ugd_antrean.push({"Andi (Serangan Jantung)", </a:t>
            </a:r>
            <a:r>
              <a:rPr lang="en-US" sz="1100">
                <a:solidFill>
                  <a:srgbClr val="98C379"/>
                </a:solidFill>
                <a:latin typeface="Fira Code"/>
                <a:ea typeface="Fira Code"/>
                <a:cs typeface="Fira Code"/>
                <a:sym typeface="Fira Code"/>
              </a:rPr>
              <a:t>5</a:t>
            </a:r>
            <a:r>
              <a:rPr lang="en-US" sz="1100">
                <a:solidFill>
                  <a:srgbClr val="64FFDA"/>
                </a:solidFill>
                <a:latin typeface="Fira Code"/>
                <a:ea typeface="Fira Code"/>
                <a:cs typeface="Fira Code"/>
                <a:sym typeface="Fira Code"/>
              </a:rPr>
              <a: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ugd_antrean.push({"Siti (Patah Tulang)", </a:t>
            </a:r>
            <a:r>
              <a:rPr lang="en-US" sz="1100">
                <a:solidFill>
                  <a:srgbClr val="98C379"/>
                </a:solidFill>
                <a:latin typeface="Fira Code"/>
                <a:ea typeface="Fira Code"/>
                <a:cs typeface="Fira Code"/>
                <a:sym typeface="Fira Code"/>
              </a:rPr>
              <a:t>4</a:t>
            </a:r>
            <a:r>
              <a:rPr lang="en-US" sz="1100">
                <a:solidFill>
                  <a:srgbClr val="64FFDA"/>
                </a:solidFill>
                <a:latin typeface="Fira Code"/>
                <a:ea typeface="Fira Code"/>
                <a:cs typeface="Fira Code"/>
                <a:sym typeface="Fira Code"/>
              </a:rPr>
              <a: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i="1">
                <a:solidFill>
                  <a:srgbClr val="5C6370"/>
                </a:solidFill>
                <a:latin typeface="Fira Code"/>
                <a:ea typeface="Fira Code"/>
                <a:cs typeface="Fira Code"/>
                <a:sym typeface="Fira Code"/>
              </a:rPr>
              <a:t>// Proses Pemanggilan Pasien (Pasti dipanggil berdasarkan prioritas tertinggi!)</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a:solidFill>
                  <a:srgbClr val="C678DD"/>
                </a:solidFill>
                <a:latin typeface="Fira Code"/>
                <a:ea typeface="Fira Code"/>
                <a:cs typeface="Fira Code"/>
                <a:sym typeface="Fira Code"/>
              </a:rPr>
              <a:t>cout</a:t>
            </a:r>
            <a:r>
              <a:rPr lang="en-US" sz="1100">
                <a:solidFill>
                  <a:srgbClr val="64FFDA"/>
                </a:solidFill>
                <a:latin typeface="Fira Code"/>
                <a:ea typeface="Fira Code"/>
                <a:cs typeface="Fira Code"/>
                <a:sym typeface="Fira Code"/>
              </a:rPr>
              <a:t> &lt;&lt; "Panggilan Dokter: " &lt;&lt; ugd_antrean.top().nama &lt;&lt; endl; </a:t>
            </a:r>
            <a:r>
              <a:rPr lang="en-US" sz="1100" i="1">
                <a:solidFill>
                  <a:srgbClr val="5C6370"/>
                </a:solidFill>
                <a:latin typeface="Fira Code"/>
                <a:ea typeface="Fira Code"/>
                <a:cs typeface="Fira Code"/>
                <a:sym typeface="Fira Code"/>
              </a:rPr>
              <a:t>// Output: Andi (Serangan Jantung)</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    </a:t>
            </a:r>
            <a:r>
              <a:rPr lang="en-US" sz="1100">
                <a:solidFill>
                  <a:srgbClr val="C678DD"/>
                </a:solidFill>
                <a:latin typeface="Fira Code"/>
                <a:ea typeface="Fira Code"/>
                <a:cs typeface="Fira Code"/>
                <a:sym typeface="Fira Code"/>
              </a:rPr>
              <a:t>return</a:t>
            </a:r>
            <a:r>
              <a:rPr lang="en-US" sz="1100">
                <a:solidFill>
                  <a:srgbClr val="64FFDA"/>
                </a:solidFill>
                <a:latin typeface="Fira Code"/>
                <a:ea typeface="Fira Code"/>
                <a:cs typeface="Fira Code"/>
                <a:sym typeface="Fira Code"/>
              </a:rPr>
              <a:t> </a:t>
            </a:r>
            <a:r>
              <a:rPr lang="en-US" sz="1100">
                <a:solidFill>
                  <a:srgbClr val="98C379"/>
                </a:solidFill>
                <a:latin typeface="Fira Code"/>
                <a:ea typeface="Fira Code"/>
                <a:cs typeface="Fira Code"/>
                <a:sym typeface="Fira Code"/>
              </a:rPr>
              <a:t>0</a:t>
            </a:r>
            <a:r>
              <a:rPr lang="en-US" sz="1100">
                <a:solidFill>
                  <a:srgbClr val="64FFDA"/>
                </a:solidFill>
                <a:latin typeface="Fira Code"/>
                <a:ea typeface="Fira Code"/>
                <a:cs typeface="Fira Code"/>
                <a:sym typeface="Fira Code"/>
              </a:rPr>
              <a:t>;</a:t>
            </a:r>
            <a:endParaRPr sz="1100">
              <a:solidFill>
                <a:srgbClr val="64FFDA"/>
              </a:solidFill>
              <a:latin typeface="Fira Code"/>
              <a:ea typeface="Fira Code"/>
              <a:cs typeface="Fira Code"/>
              <a:sym typeface="Fira Code"/>
            </a:endParaRPr>
          </a:p>
          <a:p>
            <a:pPr marL="0" lvl="0" indent="0" algn="l" rtl="0">
              <a:spcBef>
                <a:spcPts val="0"/>
              </a:spcBef>
              <a:spcAft>
                <a:spcPts val="0"/>
              </a:spcAft>
              <a:buNone/>
            </a:pPr>
            <a:r>
              <a:rPr lang="en-US" sz="1100">
                <a:solidFill>
                  <a:srgbClr val="64FFDA"/>
                </a:solidFill>
                <a:latin typeface="Fira Code"/>
                <a:ea typeface="Fira Code"/>
                <a:cs typeface="Fira Code"/>
                <a:sym typeface="Fira Code"/>
              </a:rPr>
              <a:t>}</a:t>
            </a:r>
            <a:endParaRPr sz="1100">
              <a:solidFill>
                <a:srgbClr val="64FFDA"/>
              </a:solidFill>
              <a:latin typeface="Fira Code"/>
              <a:ea typeface="Fira Code"/>
              <a:cs typeface="Fira Code"/>
              <a:sym typeface="Fira Code"/>
            </a:endParaRPr>
          </a:p>
          <a:p>
            <a:pPr marL="190500" marR="190500" lvl="0" indent="0" algn="l" rtl="0">
              <a:lnSpc>
                <a:spcPct val="150000"/>
              </a:lnSpc>
              <a:spcBef>
                <a:spcPts val="0"/>
              </a:spcBef>
              <a:spcAft>
                <a:spcPts val="1500"/>
              </a:spcAft>
              <a:buNone/>
            </a:pPr>
            <a:r>
              <a:rPr lang="en-US" sz="1100">
                <a:solidFill>
                  <a:srgbClr val="64FFDA"/>
                </a:solidFill>
                <a:latin typeface="Fira Code"/>
                <a:ea typeface="Fira Code"/>
                <a:cs typeface="Fira Code"/>
                <a:sym typeface="Fira Code"/>
              </a:rPr>
              <a:t>       </a:t>
            </a:r>
            <a:endParaRPr sz="1100">
              <a:solidFill>
                <a:srgbClr val="64FFDA"/>
              </a:solidFill>
              <a:latin typeface="Fira Code"/>
              <a:ea typeface="Fira Code"/>
              <a:cs typeface="Fira Code"/>
              <a:sym typeface="Fira Code"/>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410"/>
        <p:cNvGrpSpPr/>
        <p:nvPr/>
      </p:nvGrpSpPr>
      <p:grpSpPr>
        <a:xfrm>
          <a:off x="0" y="0"/>
          <a:ext cx="0" cy="0"/>
          <a:chOff x="0" y="0"/>
          <a:chExt cx="0" cy="0"/>
        </a:xfrm>
      </p:grpSpPr>
      <p:pic>
        <p:nvPicPr>
          <p:cNvPr id="411" name="Google Shape;411;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12" name="Google Shape;412;p38"/>
          <p:cNvSpPr txBox="1"/>
          <p:nvPr/>
        </p:nvSpPr>
        <p:spPr>
          <a:xfrm>
            <a:off x="1047750" y="2185987"/>
            <a:ext cx="10572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Sifat Mutasi:</a:t>
            </a:r>
            <a:r>
              <a:rPr lang="en-US" sz="1500" b="0" i="0" u="none" strike="noStrike" cap="none">
                <a:solidFill>
                  <a:srgbClr val="CCD6F6"/>
                </a:solidFill>
                <a:latin typeface="Inter"/>
                <a:ea typeface="Inter"/>
                <a:cs typeface="Inter"/>
                <a:sym typeface="Inter"/>
              </a:rPr>
              <a:t> Deque merobohkan batasan ketat Queue primitif, menyediakan senjata serbaguna yang bisa dirakit membatasi input atau output secara leluasa (Input/Output Restricted Deque).</a:t>
            </a:r>
            <a:endParaRPr/>
          </a:p>
        </p:txBody>
      </p:sp>
      <p:sp>
        <p:nvSpPr>
          <p:cNvPr id="413" name="Google Shape;413;p38"/>
          <p:cNvSpPr txBox="1"/>
          <p:nvPr/>
        </p:nvSpPr>
        <p:spPr>
          <a:xfrm>
            <a:off x="1047750" y="2947987"/>
            <a:ext cx="10572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Sistem Terkompleks:</a:t>
            </a:r>
            <a:r>
              <a:rPr lang="en-US" sz="1500" b="0" i="0" u="none" strike="noStrike" cap="none">
                <a:solidFill>
                  <a:srgbClr val="CCD6F6"/>
                </a:solidFill>
                <a:latin typeface="Inter"/>
                <a:ea typeface="Inter"/>
                <a:cs typeface="Inter"/>
                <a:sym typeface="Inter"/>
              </a:rPr>
              <a:t> Jika Deque adalah alat manipulasi posisi bebas dua arah yang instan, maka Priority Queue adalah alat penyusunan cerdas berbasis bobot dominan logaritmik.</a:t>
            </a:r>
            <a:endParaRPr/>
          </a:p>
        </p:txBody>
      </p:sp>
      <p:sp>
        <p:nvSpPr>
          <p:cNvPr id="414" name="Google Shape;414;p38"/>
          <p:cNvSpPr txBox="1"/>
          <p:nvPr/>
        </p:nvSpPr>
        <p:spPr>
          <a:xfrm>
            <a:off x="1047750" y="3709987"/>
            <a:ext cx="10572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Kausalitas C++:</a:t>
            </a:r>
            <a:r>
              <a:rPr lang="en-US" sz="1500" b="0" i="0" u="none" strike="noStrike" cap="none">
                <a:solidFill>
                  <a:srgbClr val="CCD6F6"/>
                </a:solidFill>
                <a:latin typeface="Inter"/>
                <a:ea typeface="Inter"/>
                <a:cs typeface="Inter"/>
                <a:sym typeface="Inter"/>
              </a:rPr>
              <a:t> Menyisipkan struct kustom milik kita sendiri ke dalam Priority Queue Standard Library C++ memaksa programmer melakukan </a:t>
            </a:r>
            <a:r>
              <a:rPr lang="en-US" sz="1500" b="0" i="1" u="none" strike="noStrike" cap="none">
                <a:solidFill>
                  <a:srgbClr val="CCD6F6"/>
                </a:solidFill>
                <a:latin typeface="Inter"/>
                <a:ea typeface="Inter"/>
                <a:cs typeface="Inter"/>
                <a:sym typeface="Inter"/>
              </a:rPr>
              <a:t>Operator Overloading</a:t>
            </a:r>
            <a:r>
              <a:rPr lang="en-US" sz="1500" b="0" i="0" u="none" strike="noStrike" cap="none">
                <a:solidFill>
                  <a:srgbClr val="CCD6F6"/>
                </a:solidFill>
                <a:latin typeface="Inter"/>
                <a:ea typeface="Inter"/>
                <a:cs typeface="Inter"/>
                <a:sym typeface="Inter"/>
              </a:rPr>
              <a:t> (&lt;) untuk men-setting hukum perbandingan algoritmanya.</a:t>
            </a:r>
            <a:endParaRPr/>
          </a:p>
        </p:txBody>
      </p:sp>
      <p:sp>
        <p:nvSpPr>
          <p:cNvPr id="415" name="Google Shape;415;p38"/>
          <p:cNvSpPr txBox="1"/>
          <p:nvPr/>
        </p:nvSpPr>
        <p:spPr>
          <a:xfrm>
            <a:off x="1047750" y="4481512"/>
            <a:ext cx="10572900" cy="5772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Fondasi Arsitektur Masa Depan:</a:t>
            </a:r>
            <a:r>
              <a:rPr lang="en-US" sz="1500" b="0" i="0" u="none" strike="noStrike" cap="none">
                <a:solidFill>
                  <a:srgbClr val="CCD6F6"/>
                </a:solidFill>
                <a:latin typeface="Inter"/>
                <a:ea typeface="Inter"/>
                <a:cs typeface="Inter"/>
                <a:sym typeface="Inter"/>
              </a:rPr>
              <a:t> Keduanya menjadi komponen fundamental di balik kap mesin browser, simulator grafis, hingga kernel penjadwalan komputasi paralel hardware.</a:t>
            </a:r>
            <a:endParaRPr/>
          </a:p>
        </p:txBody>
      </p:sp>
      <p:pic>
        <p:nvPicPr>
          <p:cNvPr id="416" name="Google Shape;416;p38" descr="image.png"/>
          <p:cNvPicPr preferRelativeResize="0"/>
          <p:nvPr/>
        </p:nvPicPr>
        <p:blipFill rotWithShape="1">
          <a:blip r:embed="rId4">
            <a:alphaModFix/>
          </a:blip>
          <a:srcRect/>
          <a:stretch/>
        </p:blipFill>
        <p:spPr>
          <a:xfrm>
            <a:off x="571500" y="2214562"/>
            <a:ext cx="171450" cy="247650"/>
          </a:xfrm>
          <a:prstGeom prst="rect">
            <a:avLst/>
          </a:prstGeom>
          <a:noFill/>
          <a:ln>
            <a:noFill/>
          </a:ln>
        </p:spPr>
      </p:pic>
      <p:pic>
        <p:nvPicPr>
          <p:cNvPr id="417" name="Google Shape;417;p38" descr="image.png"/>
          <p:cNvPicPr preferRelativeResize="0"/>
          <p:nvPr/>
        </p:nvPicPr>
        <p:blipFill rotWithShape="1">
          <a:blip r:embed="rId4">
            <a:alphaModFix/>
          </a:blip>
          <a:srcRect/>
          <a:stretch/>
        </p:blipFill>
        <p:spPr>
          <a:xfrm>
            <a:off x="571500" y="2976562"/>
            <a:ext cx="171450" cy="247650"/>
          </a:xfrm>
          <a:prstGeom prst="rect">
            <a:avLst/>
          </a:prstGeom>
          <a:noFill/>
          <a:ln>
            <a:noFill/>
          </a:ln>
        </p:spPr>
      </p:pic>
      <p:pic>
        <p:nvPicPr>
          <p:cNvPr id="418" name="Google Shape;418;p38" descr="image.png"/>
          <p:cNvPicPr preferRelativeResize="0"/>
          <p:nvPr/>
        </p:nvPicPr>
        <p:blipFill rotWithShape="1">
          <a:blip r:embed="rId4">
            <a:alphaModFix/>
          </a:blip>
          <a:srcRect/>
          <a:stretch/>
        </p:blipFill>
        <p:spPr>
          <a:xfrm>
            <a:off x="571500" y="3738562"/>
            <a:ext cx="171450" cy="247650"/>
          </a:xfrm>
          <a:prstGeom prst="rect">
            <a:avLst/>
          </a:prstGeom>
          <a:noFill/>
          <a:ln>
            <a:noFill/>
          </a:ln>
        </p:spPr>
      </p:pic>
      <p:pic>
        <p:nvPicPr>
          <p:cNvPr id="419" name="Google Shape;419;p38" descr="image.png"/>
          <p:cNvPicPr preferRelativeResize="0"/>
          <p:nvPr/>
        </p:nvPicPr>
        <p:blipFill rotWithShape="1">
          <a:blip r:embed="rId4">
            <a:alphaModFix/>
          </a:blip>
          <a:srcRect/>
          <a:stretch/>
        </p:blipFill>
        <p:spPr>
          <a:xfrm>
            <a:off x="571500" y="4510087"/>
            <a:ext cx="171450" cy="247650"/>
          </a:xfrm>
          <a:prstGeom prst="rect">
            <a:avLst/>
          </a:prstGeom>
          <a:noFill/>
          <a:ln>
            <a:noFill/>
          </a:ln>
        </p:spPr>
      </p:pic>
      <p:sp>
        <p:nvSpPr>
          <p:cNvPr id="420" name="Google Shape;420;p3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Ringkasan Materi Pertemuan 9</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424"/>
        <p:cNvGrpSpPr/>
        <p:nvPr/>
      </p:nvGrpSpPr>
      <p:grpSpPr>
        <a:xfrm>
          <a:off x="0" y="0"/>
          <a:ext cx="0" cy="0"/>
          <a:chOff x="0" y="0"/>
          <a:chExt cx="0" cy="0"/>
        </a:xfrm>
      </p:grpSpPr>
      <p:pic>
        <p:nvPicPr>
          <p:cNvPr id="425" name="Google Shape;425;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26" name="Google Shape;426;p39"/>
          <p:cNvSpPr txBox="1"/>
          <p:nvPr/>
        </p:nvSpPr>
        <p:spPr>
          <a:xfrm>
            <a:off x="295275" y="571946"/>
            <a:ext cx="11601450" cy="1009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FFD700"/>
                </a:solidFill>
                <a:latin typeface="Poppins"/>
                <a:ea typeface="Poppins"/>
                <a:cs typeface="Poppins"/>
                <a:sym typeface="Poppins"/>
              </a:rPr>
              <a:t>Pertanyaan Diskusi Kritis</a:t>
            </a:r>
            <a:endParaRPr/>
          </a:p>
        </p:txBody>
      </p:sp>
      <p:sp>
        <p:nvSpPr>
          <p:cNvPr id="427" name="Google Shape;427;p39"/>
          <p:cNvSpPr txBox="1"/>
          <p:nvPr/>
        </p:nvSpPr>
        <p:spPr>
          <a:xfrm>
            <a:off x="1171575" y="2059751"/>
            <a:ext cx="161925"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CCD6F6"/>
                </a:solidFill>
                <a:latin typeface="Inter"/>
                <a:ea typeface="Inter"/>
                <a:cs typeface="Inter"/>
                <a:sym typeface="Inter"/>
              </a:rPr>
              <a:t>1.</a:t>
            </a:r>
            <a:endParaRPr/>
          </a:p>
        </p:txBody>
      </p:sp>
      <p:sp>
        <p:nvSpPr>
          <p:cNvPr id="428" name="Google Shape;428;p39"/>
          <p:cNvSpPr txBox="1"/>
          <p:nvPr/>
        </p:nvSpPr>
        <p:spPr>
          <a:xfrm>
            <a:off x="1524000" y="2057846"/>
            <a:ext cx="9334500" cy="2049600"/>
          </a:xfrm>
          <a:prstGeom prst="rect">
            <a:avLst/>
          </a:prstGeom>
          <a:noFill/>
          <a:ln>
            <a:noFill/>
          </a:ln>
        </p:spPr>
        <p:txBody>
          <a:bodyPr spcFirstLastPara="1" wrap="square" lIns="161925" tIns="0" rIns="0" bIns="0" anchor="t" anchorCtr="0">
            <a:spAutoFit/>
          </a:bodyPr>
          <a:lstStyle/>
          <a:p>
            <a:pPr marL="0" marR="0" lvl="0" indent="0" algn="just" rtl="0">
              <a:lnSpc>
                <a:spcPct val="159944"/>
              </a:lnSpc>
              <a:spcBef>
                <a:spcPts val="0"/>
              </a:spcBef>
              <a:spcAft>
                <a:spcPts val="0"/>
              </a:spcAft>
              <a:buNone/>
            </a:pPr>
            <a:r>
              <a:rPr lang="en-US" sz="1800" b="0" i="0" u="none" strike="noStrike" cap="none">
                <a:solidFill>
                  <a:srgbClr val="CCD6F6"/>
                </a:solidFill>
                <a:latin typeface="Inter"/>
                <a:ea typeface="Inter"/>
                <a:cs typeface="Inter"/>
                <a:sym typeface="Inter"/>
              </a:rPr>
              <a:t>Masalah </a:t>
            </a:r>
            <a:r>
              <a:rPr lang="en-US" sz="1800" b="1" i="0" u="none" strike="noStrike" cap="none">
                <a:solidFill>
                  <a:srgbClr val="CCD6F6"/>
                </a:solidFill>
                <a:latin typeface="Inter"/>
                <a:ea typeface="Inter"/>
                <a:cs typeface="Inter"/>
                <a:sym typeface="Inter"/>
              </a:rPr>
              <a:t>Starvation</a:t>
            </a:r>
            <a:r>
              <a:rPr lang="en-US" sz="1800" b="0" i="0" u="none" strike="noStrike" cap="none">
                <a:solidFill>
                  <a:srgbClr val="CCD6F6"/>
                </a:solidFill>
                <a:latin typeface="Inter"/>
                <a:ea typeface="Inter"/>
                <a:cs typeface="Inter"/>
                <a:sym typeface="Inter"/>
              </a:rPr>
              <a:t> merupakan momok pada Priority Queue (Data berprioritas rendah tidak pernah diproses karena serbuan data krusial terus-menerus). Bagaimana secara teoritis logika sistem struktur antrean harus kita modifikasi agar elemen kasta rendah lama-lama naik tahta prioritasnya seiring menunggu waktu komputasi (</a:t>
            </a:r>
            <a:r>
              <a:rPr lang="en-US" sz="1800" b="0" i="1" u="none" strike="noStrike" cap="none">
                <a:solidFill>
                  <a:srgbClr val="CCD6F6"/>
                </a:solidFill>
                <a:latin typeface="Inter"/>
                <a:ea typeface="Inter"/>
                <a:cs typeface="Inter"/>
                <a:sym typeface="Inter"/>
              </a:rPr>
              <a:t>Aging Mechanism</a:t>
            </a:r>
            <a:r>
              <a:rPr lang="en-US" sz="1800" b="0" i="0" u="none" strike="noStrike" cap="none">
                <a:solidFill>
                  <a:srgbClr val="CCD6F6"/>
                </a:solidFill>
                <a:latin typeface="Inter"/>
                <a:ea typeface="Inter"/>
                <a:cs typeface="Inter"/>
                <a:sym typeface="Inter"/>
              </a:rPr>
              <a:t>)?</a:t>
            </a:r>
            <a:endParaRPr/>
          </a:p>
        </p:txBody>
      </p:sp>
      <p:sp>
        <p:nvSpPr>
          <p:cNvPr id="429" name="Google Shape;429;p39"/>
          <p:cNvSpPr txBox="1"/>
          <p:nvPr/>
        </p:nvSpPr>
        <p:spPr>
          <a:xfrm>
            <a:off x="1123950" y="4173855"/>
            <a:ext cx="20955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CCD6F6"/>
                </a:solidFill>
                <a:latin typeface="Inter"/>
                <a:ea typeface="Inter"/>
                <a:cs typeface="Inter"/>
                <a:sym typeface="Inter"/>
              </a:rPr>
              <a:t>2.</a:t>
            </a:r>
            <a:endParaRPr/>
          </a:p>
        </p:txBody>
      </p:sp>
      <p:sp>
        <p:nvSpPr>
          <p:cNvPr id="430" name="Google Shape;430;p39"/>
          <p:cNvSpPr txBox="1"/>
          <p:nvPr/>
        </p:nvSpPr>
        <p:spPr>
          <a:xfrm>
            <a:off x="1524000" y="4171950"/>
            <a:ext cx="9334500" cy="720300"/>
          </a:xfrm>
          <a:prstGeom prst="rect">
            <a:avLst/>
          </a:prstGeom>
          <a:noFill/>
          <a:ln>
            <a:noFill/>
          </a:ln>
        </p:spPr>
        <p:txBody>
          <a:bodyPr spcFirstLastPara="1" wrap="square" lIns="209550" tIns="0" rIns="0" bIns="0" anchor="t" anchorCtr="0">
            <a:spAutoFit/>
          </a:bodyPr>
          <a:lstStyle/>
          <a:p>
            <a:pPr marL="0" marR="0" lvl="0" indent="0" algn="just" rtl="0">
              <a:lnSpc>
                <a:spcPct val="159944"/>
              </a:lnSpc>
              <a:spcBef>
                <a:spcPts val="0"/>
              </a:spcBef>
              <a:spcAft>
                <a:spcPts val="0"/>
              </a:spcAft>
              <a:buNone/>
            </a:pPr>
            <a:r>
              <a:rPr lang="en-US" sz="1800" b="0" i="0" u="none" strike="noStrike" cap="none">
                <a:solidFill>
                  <a:srgbClr val="CCD6F6"/>
                </a:solidFill>
                <a:latin typeface="Inter"/>
                <a:ea typeface="Inter"/>
                <a:cs typeface="Inter"/>
                <a:sym typeface="Inter"/>
              </a:rPr>
              <a:t>Mengapa implementasi Deque murni menggunakan Single Linked List sangat tidak direkomendasikan, terutama saat melakukan pemanggilan operasi deleteRear()?</a:t>
            </a:r>
            <a:endParaRPr/>
          </a:p>
        </p:txBody>
      </p:sp>
      <p:sp>
        <p:nvSpPr>
          <p:cNvPr id="431" name="Google Shape;431;p39"/>
          <p:cNvSpPr txBox="1"/>
          <p:nvPr/>
        </p:nvSpPr>
        <p:spPr>
          <a:xfrm>
            <a:off x="1133475" y="5190950"/>
            <a:ext cx="2097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CCD6F6"/>
                </a:solidFill>
                <a:latin typeface="Inter"/>
                <a:ea typeface="Inter"/>
                <a:cs typeface="Inter"/>
                <a:sym typeface="Inter"/>
              </a:rPr>
              <a:t>3.</a:t>
            </a:r>
            <a:endParaRPr/>
          </a:p>
        </p:txBody>
      </p:sp>
      <p:sp>
        <p:nvSpPr>
          <p:cNvPr id="432" name="Google Shape;432;p39"/>
          <p:cNvSpPr txBox="1"/>
          <p:nvPr/>
        </p:nvSpPr>
        <p:spPr>
          <a:xfrm>
            <a:off x="1524000" y="5189041"/>
            <a:ext cx="9334500" cy="1163400"/>
          </a:xfrm>
          <a:prstGeom prst="rect">
            <a:avLst/>
          </a:prstGeom>
          <a:noFill/>
          <a:ln>
            <a:noFill/>
          </a:ln>
        </p:spPr>
        <p:txBody>
          <a:bodyPr spcFirstLastPara="1" wrap="square" lIns="200025" tIns="0" rIns="0" bIns="0" anchor="t" anchorCtr="0">
            <a:spAutoFit/>
          </a:bodyPr>
          <a:lstStyle/>
          <a:p>
            <a:pPr marL="0" marR="0" lvl="0" indent="0" algn="just" rtl="0">
              <a:lnSpc>
                <a:spcPct val="159944"/>
              </a:lnSpc>
              <a:spcBef>
                <a:spcPts val="0"/>
              </a:spcBef>
              <a:spcAft>
                <a:spcPts val="0"/>
              </a:spcAft>
              <a:buNone/>
            </a:pPr>
            <a:r>
              <a:rPr lang="en-US" sz="1800" b="0" i="0" u="none" strike="noStrike" cap="none">
                <a:solidFill>
                  <a:srgbClr val="CCD6F6"/>
                </a:solidFill>
                <a:latin typeface="Inter"/>
                <a:ea typeface="Inter"/>
                <a:cs typeface="Inter"/>
                <a:sym typeface="Inter"/>
              </a:rPr>
              <a:t>Berikan contoh kasus arsitektur pemrograman selain Web Browser di mana kita membutuhkan kemampuan </a:t>
            </a:r>
            <a:r>
              <a:rPr lang="en-US" sz="1800" b="0" i="1" u="none" strike="noStrike" cap="none">
                <a:solidFill>
                  <a:srgbClr val="CCD6F6"/>
                </a:solidFill>
                <a:latin typeface="Inter"/>
                <a:ea typeface="Inter"/>
                <a:cs typeface="Inter"/>
                <a:sym typeface="Inter"/>
              </a:rPr>
              <a:t>Input Restricted Deque</a:t>
            </a:r>
            <a:r>
              <a:rPr lang="en-US" sz="1800" b="0" i="0" u="none" strike="noStrike" cap="none">
                <a:solidFill>
                  <a:srgbClr val="CCD6F6"/>
                </a:solidFill>
                <a:latin typeface="Inter"/>
                <a:ea typeface="Inter"/>
                <a:cs typeface="Inter"/>
                <a:sym typeface="Inter"/>
              </a:rPr>
              <a:t> secara logis murni dalam skenario komputasinya.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436"/>
        <p:cNvGrpSpPr/>
        <p:nvPr/>
      </p:nvGrpSpPr>
      <p:grpSpPr>
        <a:xfrm>
          <a:off x="0" y="0"/>
          <a:ext cx="0" cy="0"/>
          <a:chOff x="0" y="0"/>
          <a:chExt cx="0" cy="0"/>
        </a:xfrm>
      </p:grpSpPr>
      <p:sp>
        <p:nvSpPr>
          <p:cNvPr id="437" name="Google Shape;437;p40"/>
          <p:cNvSpPr txBox="1"/>
          <p:nvPr/>
        </p:nvSpPr>
        <p:spPr>
          <a:xfrm>
            <a:off x="3035538" y="1945000"/>
            <a:ext cx="6120900" cy="1038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750" b="1" i="0" u="none" strike="noStrike" cap="none">
                <a:solidFill>
                  <a:srgbClr val="FFD700"/>
                </a:solidFill>
                <a:latin typeface="Poppins"/>
                <a:ea typeface="Poppins"/>
                <a:cs typeface="Poppins"/>
                <a:sym typeface="Poppins"/>
              </a:rPr>
              <a:t>Terima Kasih</a:t>
            </a:r>
            <a:endParaRPr>
              <a:solidFill>
                <a:srgbClr val="FFD700"/>
              </a:solidFill>
            </a:endParaRPr>
          </a:p>
        </p:txBody>
      </p:sp>
      <p:sp>
        <p:nvSpPr>
          <p:cNvPr id="438" name="Google Shape;438;p40"/>
          <p:cNvSpPr txBox="1"/>
          <p:nvPr/>
        </p:nvSpPr>
        <p:spPr>
          <a:xfrm>
            <a:off x="3035538" y="3240400"/>
            <a:ext cx="5829300" cy="840300"/>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US" sz="2100" b="0" i="0" u="none" strike="noStrike" cap="none">
                <a:solidFill>
                  <a:srgbClr val="CCD6F6"/>
                </a:solidFill>
                <a:latin typeface="Inter"/>
                <a:ea typeface="Inter"/>
                <a:cs typeface="Inter"/>
                <a:sym typeface="Inter"/>
              </a:rPr>
              <a:t>Sampai jumpa di Pertemuan </a:t>
            </a:r>
            <a:r>
              <a:rPr lang="en-US" sz="2100">
                <a:solidFill>
                  <a:srgbClr val="CCD6F6"/>
                </a:solidFill>
                <a:latin typeface="Inter"/>
                <a:ea typeface="Inter"/>
                <a:cs typeface="Inter"/>
                <a:sym typeface="Inter"/>
              </a:rPr>
              <a:t>10</a:t>
            </a:r>
            <a:r>
              <a:rPr lang="en-US" sz="2100" b="0" i="0" u="none" strike="noStrike" cap="none">
                <a:solidFill>
                  <a:srgbClr val="CCD6F6"/>
                </a:solidFill>
                <a:latin typeface="Inter"/>
                <a:ea typeface="Inter"/>
                <a:cs typeface="Inter"/>
                <a:sym typeface="Inter"/>
              </a:rPr>
              <a:t>: </a:t>
            </a:r>
            <a:r>
              <a:rPr lang="en-US" sz="2100">
                <a:solidFill>
                  <a:srgbClr val="CCD6F6"/>
                </a:solidFill>
                <a:latin typeface="Inter"/>
                <a:ea typeface="Inter"/>
                <a:cs typeface="Inter"/>
                <a:sym typeface="Inter"/>
              </a:rPr>
              <a:t>Rekursi, Menara Hanoi, Stack Rekursif</a:t>
            </a:r>
            <a:endParaRPr/>
          </a:p>
        </p:txBody>
      </p:sp>
      <p:sp>
        <p:nvSpPr>
          <p:cNvPr id="439" name="Google Shape;439;p40"/>
          <p:cNvSpPr/>
          <p:nvPr/>
        </p:nvSpPr>
        <p:spPr>
          <a:xfrm>
            <a:off x="5235813" y="4337190"/>
            <a:ext cx="1428900" cy="38100"/>
          </a:xfrm>
          <a:prstGeom prst="rect">
            <a:avLst/>
          </a:prstGeom>
          <a:solidFill>
            <a:srgbClr val="64FF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0" name="Google Shape;440;p40"/>
          <p:cNvSpPr txBox="1"/>
          <p:nvPr/>
        </p:nvSpPr>
        <p:spPr>
          <a:xfrm>
            <a:off x="3035538" y="4697690"/>
            <a:ext cx="58293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CCD6F6"/>
                </a:solidFill>
                <a:latin typeface="Inter"/>
                <a:ea typeface="Inter"/>
                <a:cs typeface="Inter"/>
                <a:sym typeface="Inter"/>
              </a:rPr>
              <a:t>Program </a:t>
            </a:r>
            <a:r>
              <a:rPr lang="en-US" sz="1200" b="0" i="0" u="none" strike="noStrike" cap="none" dirty="0" err="1">
                <a:solidFill>
                  <a:srgbClr val="CCD6F6"/>
                </a:solidFill>
                <a:latin typeface="Inter"/>
                <a:ea typeface="Inter"/>
                <a:cs typeface="Inter"/>
                <a:sym typeface="Inter"/>
              </a:rPr>
              <a:t>Studi</a:t>
            </a:r>
            <a:r>
              <a:rPr lang="en-US" sz="1200" b="0" i="0" u="none" strike="noStrike" cap="none" dirty="0">
                <a:solidFill>
                  <a:srgbClr val="CCD6F6"/>
                </a:solidFill>
                <a:latin typeface="Inter"/>
                <a:ea typeface="Inter"/>
                <a:cs typeface="Inter"/>
                <a:sym typeface="Inter"/>
              </a:rPr>
              <a:t> S1 </a:t>
            </a:r>
            <a:r>
              <a:rPr lang="en-US" sz="1200" b="0" i="0" u="none" strike="noStrike" cap="none" dirty="0" err="1" smtClean="0">
                <a:solidFill>
                  <a:srgbClr val="CCD6F6"/>
                </a:solidFill>
                <a:latin typeface="Inter"/>
                <a:ea typeface="Inter"/>
                <a:cs typeface="Inter"/>
                <a:sym typeface="Inter"/>
              </a:rPr>
              <a:t>Pendidikan</a:t>
            </a:r>
            <a:r>
              <a:rPr lang="en-US" sz="1200" b="0" i="0" u="none" strike="noStrike" cap="none" smtClean="0">
                <a:solidFill>
                  <a:srgbClr val="CCD6F6"/>
                </a:solidFill>
                <a:latin typeface="Inter"/>
                <a:ea typeface="Inter"/>
                <a:cs typeface="Inter"/>
                <a:sym typeface="Inter"/>
              </a:rPr>
              <a:t> Teknik</a:t>
            </a:r>
            <a:r>
              <a:rPr lang="en-US" sz="1200" b="0" i="0" u="none" strike="noStrike" cap="none" dirty="0" smtClean="0">
                <a:solidFill>
                  <a:srgbClr val="CCD6F6"/>
                </a:solidFill>
                <a:latin typeface="Inter"/>
                <a:ea typeface="Inter"/>
                <a:cs typeface="Inter"/>
                <a:sym typeface="Inter"/>
              </a:rPr>
              <a:t> </a:t>
            </a:r>
            <a:r>
              <a:rPr lang="en-US" sz="1200" b="0" i="0" u="none" strike="noStrike" cap="none" dirty="0" err="1">
                <a:solidFill>
                  <a:srgbClr val="CCD6F6"/>
                </a:solidFill>
                <a:latin typeface="Inter"/>
                <a:ea typeface="Inter"/>
                <a:cs typeface="Inter"/>
                <a:sym typeface="Inter"/>
              </a:rPr>
              <a:t>Informatika</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1200" b="0" i="0" u="none" strike="noStrike" cap="none" dirty="0" err="1">
                <a:solidFill>
                  <a:srgbClr val="CCD6F6"/>
                </a:solidFill>
                <a:latin typeface="Inter"/>
                <a:ea typeface="Inter"/>
                <a:cs typeface="Inter"/>
                <a:sym typeface="Inter"/>
              </a:rPr>
              <a:t>Fakultas</a:t>
            </a:r>
            <a:r>
              <a:rPr lang="en-US" sz="1200" b="0" i="0" u="none" strike="noStrike" cap="none" dirty="0">
                <a:solidFill>
                  <a:srgbClr val="CCD6F6"/>
                </a:solidFill>
                <a:latin typeface="Inter"/>
                <a:ea typeface="Inter"/>
                <a:cs typeface="Inter"/>
                <a:sym typeface="Inter"/>
              </a:rPr>
              <a:t> </a:t>
            </a:r>
            <a:r>
              <a:rPr lang="en-US" sz="1200" b="0" i="0" u="none" strike="noStrike" cap="none" dirty="0" err="1">
                <a:solidFill>
                  <a:srgbClr val="CCD6F6"/>
                </a:solidFill>
                <a:latin typeface="Inter"/>
                <a:ea typeface="Inter"/>
                <a:cs typeface="Inter"/>
                <a:sym typeface="Inter"/>
              </a:rPr>
              <a:t>Teknik</a:t>
            </a:r>
            <a:r>
              <a:rPr lang="en-US" sz="1200" b="0" i="0" u="none" strike="noStrike" cap="none" dirty="0">
                <a:solidFill>
                  <a:srgbClr val="CCD6F6"/>
                </a:solidFill>
                <a:latin typeface="Inter"/>
                <a:ea typeface="Inter"/>
                <a:cs typeface="Inter"/>
                <a:sym typeface="Inter"/>
              </a:rPr>
              <a:t> - </a:t>
            </a:r>
            <a:r>
              <a:rPr lang="en-US" sz="1200" b="0" i="0" u="none" strike="noStrike" cap="none" dirty="0" err="1">
                <a:solidFill>
                  <a:srgbClr val="CCD6F6"/>
                </a:solidFill>
                <a:latin typeface="Inter"/>
                <a:ea typeface="Inter"/>
                <a:cs typeface="Inter"/>
                <a:sym typeface="Inter"/>
              </a:rPr>
              <a:t>Universitas</a:t>
            </a:r>
            <a:r>
              <a:rPr lang="en-US" sz="1200" b="0" i="0" u="none" strike="noStrike" cap="none" dirty="0">
                <a:solidFill>
                  <a:srgbClr val="CCD6F6"/>
                </a:solidFill>
                <a:latin typeface="Inter"/>
                <a:ea typeface="Inter"/>
                <a:cs typeface="Inter"/>
                <a:sym typeface="Inter"/>
              </a:rPr>
              <a:t> </a:t>
            </a:r>
            <a:r>
              <a:rPr lang="en-US" sz="1200" b="0" i="0" u="none" strike="noStrike" cap="none" dirty="0" err="1">
                <a:solidFill>
                  <a:srgbClr val="CCD6F6"/>
                </a:solidFill>
                <a:latin typeface="Inter"/>
                <a:ea typeface="Inter"/>
                <a:cs typeface="Inter"/>
                <a:sym typeface="Inter"/>
              </a:rPr>
              <a:t>Negeri</a:t>
            </a:r>
            <a:r>
              <a:rPr lang="en-US" sz="1200" b="0" i="0" u="none" strike="noStrike" cap="none" dirty="0">
                <a:solidFill>
                  <a:srgbClr val="CCD6F6"/>
                </a:solidFill>
                <a:latin typeface="Inter"/>
                <a:ea typeface="Inter"/>
                <a:cs typeface="Inter"/>
                <a:sym typeface="Inter"/>
              </a:rPr>
              <a:t> Malang</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Shape 444"/>
        <p:cNvGrpSpPr/>
        <p:nvPr/>
      </p:nvGrpSpPr>
      <p:grpSpPr>
        <a:xfrm>
          <a:off x="0" y="0"/>
          <a:ext cx="0" cy="0"/>
          <a:chOff x="0" y="0"/>
          <a:chExt cx="0" cy="0"/>
        </a:xfrm>
      </p:grpSpPr>
      <p:sp>
        <p:nvSpPr>
          <p:cNvPr id="445" name="Google Shape;445;p41"/>
          <p:cNvSpPr txBox="1"/>
          <p:nvPr/>
        </p:nvSpPr>
        <p:spPr>
          <a:xfrm>
            <a:off x="1047750" y="1240415"/>
            <a:ext cx="10572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Silberschatz, A., Galvin, P. B., &amp; Gagne, G. (2018).</a:t>
            </a:r>
            <a:r>
              <a:rPr lang="en-US" sz="1500" b="0" i="0" u="none" strike="noStrike" cap="none">
                <a:solidFill>
                  <a:srgbClr val="CCD6F6"/>
                </a:solidFill>
                <a:latin typeface="Inter"/>
                <a:ea typeface="Inter"/>
                <a:cs typeface="Inter"/>
                <a:sym typeface="Inter"/>
              </a:rPr>
              <a:t> </a:t>
            </a:r>
            <a:r>
              <a:rPr lang="en-US" sz="1500" b="0" i="1" u="none" strike="noStrike" cap="none">
                <a:solidFill>
                  <a:srgbClr val="CCD6F6"/>
                </a:solidFill>
                <a:latin typeface="Inter"/>
                <a:ea typeface="Inter"/>
                <a:cs typeface="Inter"/>
                <a:sym typeface="Inter"/>
              </a:rPr>
              <a:t>Operating System Concepts (10th ed.).</a:t>
            </a:r>
            <a:r>
              <a:rPr lang="en-US" sz="1500" b="0" i="0" u="none" strike="noStrike" cap="none">
                <a:solidFill>
                  <a:srgbClr val="CCD6F6"/>
                </a:solidFill>
                <a:latin typeface="Inter"/>
                <a:ea typeface="Inter"/>
                <a:cs typeface="Inter"/>
                <a:sym typeface="Inter"/>
              </a:rPr>
              <a:t> Wiley. (Referensi arsitektur fundamental CPU Task Priority Scheduling OS).</a:t>
            </a:r>
            <a:endParaRPr/>
          </a:p>
        </p:txBody>
      </p:sp>
      <p:sp>
        <p:nvSpPr>
          <p:cNvPr id="446" name="Google Shape;446;p41"/>
          <p:cNvSpPr txBox="1"/>
          <p:nvPr/>
        </p:nvSpPr>
        <p:spPr>
          <a:xfrm>
            <a:off x="1047750" y="2002415"/>
            <a:ext cx="10572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Goodrich, M. T., Tamassia, R., &amp; Mount, D. M. (2014).</a:t>
            </a:r>
            <a:r>
              <a:rPr lang="en-US" sz="1500" b="0" i="0" u="none" strike="noStrike" cap="none">
                <a:solidFill>
                  <a:srgbClr val="CCD6F6"/>
                </a:solidFill>
                <a:latin typeface="Inter"/>
                <a:ea typeface="Inter"/>
                <a:cs typeface="Inter"/>
                <a:sym typeface="Inter"/>
              </a:rPr>
              <a:t> </a:t>
            </a:r>
            <a:r>
              <a:rPr lang="en-US" sz="1500" b="0" i="1" u="none" strike="noStrike" cap="none">
                <a:solidFill>
                  <a:srgbClr val="CCD6F6"/>
                </a:solidFill>
                <a:latin typeface="Inter"/>
                <a:ea typeface="Inter"/>
                <a:cs typeface="Inter"/>
                <a:sym typeface="Inter"/>
              </a:rPr>
              <a:t>Data Structures and Algorithms in C++ (2nd ed.).</a:t>
            </a:r>
            <a:r>
              <a:rPr lang="en-US" sz="1500" b="0" i="0" u="none" strike="noStrike" cap="none">
                <a:solidFill>
                  <a:srgbClr val="CCD6F6"/>
                </a:solidFill>
                <a:latin typeface="Inter"/>
                <a:ea typeface="Inter"/>
                <a:cs typeface="Inter"/>
                <a:sym typeface="Inter"/>
              </a:rPr>
              <a:t> Wiley. (Penekanan modifikasi Node Double Ended Queue).</a:t>
            </a:r>
            <a:endParaRPr/>
          </a:p>
        </p:txBody>
      </p:sp>
      <p:sp>
        <p:nvSpPr>
          <p:cNvPr id="447" name="Google Shape;447;p41"/>
          <p:cNvSpPr txBox="1"/>
          <p:nvPr/>
        </p:nvSpPr>
        <p:spPr>
          <a:xfrm>
            <a:off x="1047750" y="2764415"/>
            <a:ext cx="10572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Cormen, T. H. et al. (2009).</a:t>
            </a:r>
            <a:r>
              <a:rPr lang="en-US" sz="1500" b="0" i="0" u="none" strike="noStrike" cap="none">
                <a:solidFill>
                  <a:srgbClr val="CCD6F6"/>
                </a:solidFill>
                <a:latin typeface="Inter"/>
                <a:ea typeface="Inter"/>
                <a:cs typeface="Inter"/>
                <a:sym typeface="Inter"/>
              </a:rPr>
              <a:t> </a:t>
            </a:r>
            <a:r>
              <a:rPr lang="en-US" sz="1500" b="0" i="1" u="none" strike="noStrike" cap="none">
                <a:solidFill>
                  <a:srgbClr val="CCD6F6"/>
                </a:solidFill>
                <a:latin typeface="Inter"/>
                <a:ea typeface="Inter"/>
                <a:cs typeface="Inter"/>
                <a:sym typeface="Inter"/>
              </a:rPr>
              <a:t>Introduction to Algorithms.</a:t>
            </a:r>
            <a:r>
              <a:rPr lang="en-US" sz="1500" b="0" i="0" u="none" strike="noStrike" cap="none">
                <a:solidFill>
                  <a:srgbClr val="CCD6F6"/>
                </a:solidFill>
                <a:latin typeface="Inter"/>
                <a:ea typeface="Inter"/>
                <a:cs typeface="Inter"/>
                <a:sym typeface="Inter"/>
              </a:rPr>
              <a:t> MIT Press. (Pemodelan Binary Max-Heap Tree struktur dasar).</a:t>
            </a:r>
            <a:endParaRPr/>
          </a:p>
        </p:txBody>
      </p:sp>
      <p:sp>
        <p:nvSpPr>
          <p:cNvPr id="448" name="Google Shape;448;p41"/>
          <p:cNvSpPr txBox="1"/>
          <p:nvPr/>
        </p:nvSpPr>
        <p:spPr>
          <a:xfrm>
            <a:off x="1047750" y="3526415"/>
            <a:ext cx="10572900" cy="231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64FFDA"/>
                </a:solidFill>
                <a:latin typeface="Inter SemiBold"/>
                <a:ea typeface="Inter SemiBold"/>
                <a:cs typeface="Inter SemiBold"/>
                <a:sym typeface="Inter SemiBold"/>
              </a:rPr>
              <a:t>cplusplus.com (2024).</a:t>
            </a:r>
            <a:r>
              <a:rPr lang="en-US" sz="1500" b="0" i="0" u="none" strike="noStrike" cap="none">
                <a:solidFill>
                  <a:srgbClr val="CCD6F6"/>
                </a:solidFill>
                <a:latin typeface="Inter"/>
                <a:ea typeface="Inter"/>
                <a:cs typeface="Inter"/>
                <a:sym typeface="Inter"/>
              </a:rPr>
              <a:t> </a:t>
            </a:r>
            <a:r>
              <a:rPr lang="en-US" sz="1500" b="0" i="1" u="none" strike="noStrike" cap="none">
                <a:solidFill>
                  <a:srgbClr val="CCD6F6"/>
                </a:solidFill>
                <a:latin typeface="Inter"/>
                <a:ea typeface="Inter"/>
                <a:cs typeface="Inter"/>
                <a:sym typeface="Inter"/>
              </a:rPr>
              <a:t>C++ Standard Library Reference: deque and priority_queue container adaptors</a:t>
            </a:r>
            <a:r>
              <a:rPr lang="en-US" sz="1500" b="0" i="0" u="none" strike="noStrike" cap="none">
                <a:solidFill>
                  <a:srgbClr val="CCD6F6"/>
                </a:solidFill>
                <a:latin typeface="Inter"/>
                <a:ea typeface="Inter"/>
                <a:cs typeface="Inter"/>
                <a:sym typeface="Inter"/>
              </a:rPr>
              <a:t>.</a:t>
            </a:r>
            <a:endParaRPr/>
          </a:p>
        </p:txBody>
      </p:sp>
      <p:pic>
        <p:nvPicPr>
          <p:cNvPr id="449" name="Google Shape;449;p41" descr="image.png"/>
          <p:cNvPicPr preferRelativeResize="0"/>
          <p:nvPr/>
        </p:nvPicPr>
        <p:blipFill rotWithShape="1">
          <a:blip r:embed="rId3">
            <a:alphaModFix/>
          </a:blip>
          <a:srcRect/>
          <a:stretch/>
        </p:blipFill>
        <p:spPr>
          <a:xfrm>
            <a:off x="571500" y="1268990"/>
            <a:ext cx="200025" cy="247650"/>
          </a:xfrm>
          <a:prstGeom prst="rect">
            <a:avLst/>
          </a:prstGeom>
          <a:noFill/>
          <a:ln>
            <a:noFill/>
          </a:ln>
        </p:spPr>
      </p:pic>
      <p:pic>
        <p:nvPicPr>
          <p:cNvPr id="450" name="Google Shape;450;p41" descr="image.png"/>
          <p:cNvPicPr preferRelativeResize="0"/>
          <p:nvPr/>
        </p:nvPicPr>
        <p:blipFill rotWithShape="1">
          <a:blip r:embed="rId3">
            <a:alphaModFix/>
          </a:blip>
          <a:srcRect/>
          <a:stretch/>
        </p:blipFill>
        <p:spPr>
          <a:xfrm>
            <a:off x="571500" y="2030990"/>
            <a:ext cx="200025" cy="247650"/>
          </a:xfrm>
          <a:prstGeom prst="rect">
            <a:avLst/>
          </a:prstGeom>
          <a:noFill/>
          <a:ln>
            <a:noFill/>
          </a:ln>
        </p:spPr>
      </p:pic>
      <p:pic>
        <p:nvPicPr>
          <p:cNvPr id="451" name="Google Shape;451;p41" descr="image.png"/>
          <p:cNvPicPr preferRelativeResize="0"/>
          <p:nvPr/>
        </p:nvPicPr>
        <p:blipFill rotWithShape="1">
          <a:blip r:embed="rId3">
            <a:alphaModFix/>
          </a:blip>
          <a:srcRect/>
          <a:stretch/>
        </p:blipFill>
        <p:spPr>
          <a:xfrm>
            <a:off x="571500" y="2792990"/>
            <a:ext cx="200025" cy="247650"/>
          </a:xfrm>
          <a:prstGeom prst="rect">
            <a:avLst/>
          </a:prstGeom>
          <a:noFill/>
          <a:ln>
            <a:noFill/>
          </a:ln>
        </p:spPr>
      </p:pic>
      <p:pic>
        <p:nvPicPr>
          <p:cNvPr id="452" name="Google Shape;452;p41" descr="image.png"/>
          <p:cNvPicPr preferRelativeResize="0"/>
          <p:nvPr/>
        </p:nvPicPr>
        <p:blipFill rotWithShape="1">
          <a:blip r:embed="rId4">
            <a:alphaModFix/>
          </a:blip>
          <a:srcRect/>
          <a:stretch/>
        </p:blipFill>
        <p:spPr>
          <a:xfrm>
            <a:off x="571500" y="3554990"/>
            <a:ext cx="228600" cy="247650"/>
          </a:xfrm>
          <a:prstGeom prst="rect">
            <a:avLst/>
          </a:prstGeom>
          <a:noFill/>
          <a:ln>
            <a:noFill/>
          </a:ln>
        </p:spPr>
      </p:pic>
      <p:sp>
        <p:nvSpPr>
          <p:cNvPr id="453" name="Google Shape;453;p41"/>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D700"/>
                </a:solidFill>
                <a:latin typeface="Poppins SemiBold"/>
                <a:ea typeface="Poppins SemiBold"/>
                <a:cs typeface="Poppins SemiBold"/>
                <a:sym typeface="Poppins SemiBold"/>
              </a:rPr>
              <a:t>Daftar Pustaka &amp; Referensi Materi</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2563</Words>
  <Application>Microsoft Office PowerPoint</Application>
  <PresentationFormat>Widescreen</PresentationFormat>
  <Paragraphs>265</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Inter</vt:lpstr>
      <vt:lpstr>Fira Code</vt:lpstr>
      <vt:lpstr>Arial</vt:lpstr>
      <vt:lpstr>Inter SemiBold</vt:lpstr>
      <vt:lpstr>Poppins SemiBold</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hp</cp:lastModifiedBy>
  <cp:revision>1</cp:revision>
  <dcterms:modified xsi:type="dcterms:W3CDTF">2026-04-28T07:10:10Z</dcterms:modified>
</cp:coreProperties>
</file>